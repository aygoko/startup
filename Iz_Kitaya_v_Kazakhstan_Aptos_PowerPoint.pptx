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04"/>
    <p:restoredTop sz="94710"/>
  </p:normalViewPr>
  <p:slideViewPr>
    <p:cSldViewPr snapToGrid="0" snapToObjects="1">
      <p:cViewPr varScale="1">
        <p:scale>
          <a:sx n="147" d="100"/>
          <a:sy n="147" d="100"/>
        </p:scale>
        <p:origin x="224" y="2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ptos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ptos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ptos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ptos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ptos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ptos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ptos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ptos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ptos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0"/>
            <a:ext cx="1036320" cy="111528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90560"/>
            <a:ext cx="822600" cy="667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1720" y="265320"/>
            <a:ext cx="4571640" cy="319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1300" b="1" i="0">
                <a:solidFill>
                  <a:srgbClr val="CE4C7C"/>
                </a:solidFill>
                <a:latin typeface="Aptos"/>
              </a:rPr>
              <a:t>КОЛЛЕКТЫ ОТ СОФЫ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60920" y="283320"/>
            <a:ext cx="4214880" cy="237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1000" b="1" i="0">
                <a:solidFill>
                  <a:srgbClr val="756B70"/>
                </a:solidFill>
                <a:latin typeface="Aptos"/>
              </a:rPr>
              <a:t>МЕЖДУНАРОДНОЕ РАСШИРЕНИЕ</a:t>
            </a:r>
          </a:p>
        </p:txBody>
      </p:sp>
      <p:sp>
        <p:nvSpPr>
          <p:cNvPr id="6" name="Rectangle 5"/>
          <p:cNvSpPr/>
          <p:nvPr/>
        </p:nvSpPr>
        <p:spPr>
          <a:xfrm>
            <a:off x="631080" y="6469560"/>
            <a:ext cx="10963440" cy="10440"/>
          </a:xfrm>
          <a:prstGeom prst="rect">
            <a:avLst/>
          </a:prstGeom>
          <a:solidFill>
            <a:srgbClr val="EE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82600" y="6510600"/>
            <a:ext cx="456840" cy="182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00" b="1" i="0">
                <a:solidFill>
                  <a:srgbClr val="CE4C7C"/>
                </a:solidFill>
                <a:latin typeface="Aptos"/>
              </a:rPr>
              <a:t>01</a:t>
            </a:r>
          </a:p>
        </p:txBody>
      </p:sp>
      <p:sp>
        <p:nvSpPr>
          <p:cNvPr id="9" name="Oval 8"/>
          <p:cNvSpPr/>
          <p:nvPr/>
        </p:nvSpPr>
        <p:spPr>
          <a:xfrm>
            <a:off x="8778240" y="1033200"/>
            <a:ext cx="3401280" cy="3401280"/>
          </a:xfrm>
          <a:prstGeom prst="ellipse">
            <a:avLst/>
          </a:prstGeom>
          <a:solidFill>
            <a:srgbClr val="FC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75280" y="3310200"/>
            <a:ext cx="816720" cy="1590840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9966960" y="4846320"/>
            <a:ext cx="978120" cy="978120"/>
          </a:xfrm>
          <a:prstGeom prst="ellipse">
            <a:avLst/>
          </a:prstGeom>
          <a:solidFill>
            <a:srgbClr val="F2B5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4800" y="1819800"/>
            <a:ext cx="9692280" cy="190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lang="ru-RU" sz="6600" b="1" i="0" dirty="0">
                <a:solidFill>
                  <a:srgbClr val="30252B"/>
                </a:solidFill>
                <a:latin typeface="Aptos"/>
              </a:rPr>
              <a:t>Из</a:t>
            </a:r>
            <a:r>
              <a:rPr lang="en-US" sz="6600" b="1" i="0" dirty="0">
                <a:solidFill>
                  <a:srgbClr val="30252B"/>
                </a:solidFill>
                <a:latin typeface="Aptos"/>
              </a:rPr>
              <a:t> </a:t>
            </a:r>
            <a:r>
              <a:rPr lang="ru-RU" sz="6600" b="1" i="0" dirty="0">
                <a:solidFill>
                  <a:srgbClr val="30252B"/>
                </a:solidFill>
                <a:latin typeface="Aptos"/>
              </a:rPr>
              <a:t>Китая</a:t>
            </a:r>
            <a:r>
              <a:rPr sz="6600" b="1" i="0" dirty="0">
                <a:solidFill>
                  <a:srgbClr val="30252B"/>
                </a:solidFill>
                <a:latin typeface="Aptos"/>
              </a:rPr>
              <a:t> —</a:t>
            </a:r>
          </a:p>
          <a:p>
            <a:r>
              <a:rPr sz="6600" b="1" i="0" dirty="0" err="1">
                <a:solidFill>
                  <a:srgbClr val="30252B"/>
                </a:solidFill>
                <a:latin typeface="Aptos"/>
              </a:rPr>
              <a:t>в</a:t>
            </a:r>
            <a:r>
              <a:rPr sz="6600" b="1" i="0" dirty="0">
                <a:solidFill>
                  <a:srgbClr val="30252B"/>
                </a:solidFill>
                <a:latin typeface="Aptos"/>
              </a:rPr>
              <a:t> </a:t>
            </a:r>
            <a:r>
              <a:rPr sz="6600" b="1" i="0" dirty="0" err="1">
                <a:solidFill>
                  <a:srgbClr val="30252B"/>
                </a:solidFill>
                <a:latin typeface="Aptos"/>
              </a:rPr>
              <a:t>Казахстан</a:t>
            </a:r>
            <a:endParaRPr sz="6600" b="1" i="0" dirty="0">
              <a:solidFill>
                <a:srgbClr val="30252B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1520" y="4060080"/>
            <a:ext cx="8777880" cy="914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2300" b="1" i="0" dirty="0" err="1">
                <a:solidFill>
                  <a:srgbClr val="CE4C7C"/>
                </a:solidFill>
                <a:latin typeface="Aptos"/>
              </a:rPr>
              <a:t>Почему</a:t>
            </a:r>
            <a:r>
              <a:rPr sz="2300" b="1" i="0" dirty="0">
                <a:solidFill>
                  <a:srgbClr val="CE4C7C"/>
                </a:solidFill>
                <a:latin typeface="Aptos"/>
              </a:rPr>
              <a:t> </a:t>
            </a:r>
            <a:r>
              <a:rPr sz="2300" b="1" i="0" dirty="0" err="1">
                <a:solidFill>
                  <a:srgbClr val="CE4C7C"/>
                </a:solidFill>
                <a:latin typeface="Aptos"/>
              </a:rPr>
              <a:t>этот</a:t>
            </a:r>
            <a:r>
              <a:rPr sz="2300" b="1" i="0" dirty="0">
                <a:solidFill>
                  <a:srgbClr val="CE4C7C"/>
                </a:solidFill>
                <a:latin typeface="Aptos"/>
              </a:rPr>
              <a:t> </a:t>
            </a:r>
            <a:r>
              <a:rPr sz="2300" b="1" i="0" dirty="0" err="1">
                <a:solidFill>
                  <a:srgbClr val="CE4C7C"/>
                </a:solidFill>
                <a:latin typeface="Aptos"/>
              </a:rPr>
              <a:t>рынок</a:t>
            </a:r>
            <a:r>
              <a:rPr sz="2300" b="1" i="0" dirty="0">
                <a:solidFill>
                  <a:srgbClr val="CE4C7C"/>
                </a:solidFill>
                <a:latin typeface="Aptos"/>
              </a:rPr>
              <a:t> </a:t>
            </a:r>
            <a:r>
              <a:rPr sz="2300" b="1" i="0" dirty="0" err="1">
                <a:solidFill>
                  <a:srgbClr val="CE4C7C"/>
                </a:solidFill>
                <a:latin typeface="Aptos"/>
              </a:rPr>
              <a:t>подходит</a:t>
            </a:r>
            <a:r>
              <a:rPr sz="2300" b="1" i="0" dirty="0">
                <a:solidFill>
                  <a:srgbClr val="CE4C7C"/>
                </a:solidFill>
                <a:latin typeface="Aptos"/>
              </a:rPr>
              <a:t> </a:t>
            </a:r>
            <a:r>
              <a:rPr sz="2300" b="1" i="0" dirty="0" err="1">
                <a:solidFill>
                  <a:srgbClr val="CE4C7C"/>
                </a:solidFill>
                <a:latin typeface="Aptos"/>
              </a:rPr>
              <a:t>для</a:t>
            </a:r>
            <a:endParaRPr sz="2300" b="1" i="0" dirty="0">
              <a:solidFill>
                <a:srgbClr val="CE4C7C"/>
              </a:solidFill>
              <a:latin typeface="Aptos"/>
            </a:endParaRPr>
          </a:p>
          <a:p>
            <a:r>
              <a:rPr lang="ru-RU" sz="2300" b="1" i="0" dirty="0">
                <a:solidFill>
                  <a:srgbClr val="CE4C7C"/>
                </a:solidFill>
                <a:latin typeface="Aptos"/>
              </a:rPr>
              <a:t>нашего проекта</a:t>
            </a:r>
            <a:endParaRPr sz="2300" b="1" i="0" dirty="0">
              <a:solidFill>
                <a:srgbClr val="CE4C7C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31520" y="5532120"/>
            <a:ext cx="1974600" cy="392760"/>
          </a:xfrm>
          <a:prstGeom prst="roundRect">
            <a:avLst/>
          </a:prstGeom>
          <a:solidFill>
            <a:srgbClr val="FC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5400" y="5602680"/>
            <a:ext cx="1627200" cy="209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100" b="1" i="0">
                <a:solidFill>
                  <a:srgbClr val="CE4C7C"/>
                </a:solidFill>
                <a:latin typeface="Aptos"/>
              </a:rPr>
              <a:t>2026 / 2027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34640" y="5532120"/>
            <a:ext cx="2989800" cy="392760"/>
          </a:xfrm>
          <a:prstGeom prst="roundRect">
            <a:avLst/>
          </a:prstGeom>
          <a:solidFill>
            <a:srgbClr val="F8D9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971800" y="5602680"/>
            <a:ext cx="2724480" cy="209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20" b="1" i="0">
                <a:solidFill>
                  <a:srgbClr val="30252B"/>
                </a:solidFill>
                <a:latin typeface="Aptos"/>
              </a:rPr>
              <a:t>МЕЖДУНАРОДНАЯ СТРАТЕГИЯ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0"/>
            <a:ext cx="1036320" cy="111528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90560"/>
            <a:ext cx="822600" cy="667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1720" y="265320"/>
            <a:ext cx="4571640" cy="319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1300" b="1" i="0">
                <a:solidFill>
                  <a:srgbClr val="CE4C7C"/>
                </a:solidFill>
                <a:latin typeface="Aptos"/>
              </a:rPr>
              <a:t>КОЛЛЕКТЫ ОТ СОФЫ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60920" y="283320"/>
            <a:ext cx="4214880" cy="237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1000" b="1" i="0" dirty="0">
                <a:solidFill>
                  <a:srgbClr val="756B70"/>
                </a:solidFill>
                <a:latin typeface="Aptos"/>
              </a:rPr>
              <a:t>РЫНОК</a:t>
            </a:r>
          </a:p>
        </p:txBody>
      </p:sp>
      <p:sp>
        <p:nvSpPr>
          <p:cNvPr id="6" name="Rectangle 5"/>
          <p:cNvSpPr/>
          <p:nvPr/>
        </p:nvSpPr>
        <p:spPr>
          <a:xfrm>
            <a:off x="631080" y="6469560"/>
            <a:ext cx="10963440" cy="10440"/>
          </a:xfrm>
          <a:prstGeom prst="rect">
            <a:avLst/>
          </a:prstGeom>
          <a:solidFill>
            <a:srgbClr val="EE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82600" y="6510600"/>
            <a:ext cx="456840" cy="182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00" b="1" i="0">
                <a:solidFill>
                  <a:srgbClr val="CE4C7C"/>
                </a:solidFill>
                <a:latin typeface="Apto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786240"/>
            <a:ext cx="10881000" cy="2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1140" b="1" i="0">
                <a:solidFill>
                  <a:srgbClr val="CE4C7C"/>
                </a:solidFill>
                <a:latin typeface="Aptos"/>
              </a:rPr>
              <a:t>РАЗМЕР И ДИНАМИКА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1080" y="1129320"/>
            <a:ext cx="10990800" cy="639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3200" b="1" i="0">
                <a:solidFill>
                  <a:srgbClr val="30252B"/>
                </a:solidFill>
                <a:latin typeface="Aptos"/>
              </a:rPr>
              <a:t>Онлайн-рынок вырос на 54%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440" y="1834200"/>
            <a:ext cx="10908360" cy="392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1500" b="0" i="0">
                <a:solidFill>
                  <a:srgbClr val="756B70"/>
                </a:solidFill>
                <a:latin typeface="Aptos"/>
              </a:rPr>
              <a:t>Розничная e-commerce Казахстана, 2023–2025 · трлн 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00" y="2432160"/>
            <a:ext cx="6830280" cy="313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E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490400" y="3777480"/>
            <a:ext cx="1444320" cy="1498320"/>
          </a:xfrm>
          <a:prstGeom prst="roundRect">
            <a:avLst/>
          </a:prstGeom>
          <a:solidFill>
            <a:srgbClr val="F9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490400" y="3393360"/>
            <a:ext cx="1444320" cy="328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2000" b="1" i="0">
                <a:solidFill>
                  <a:srgbClr val="30252B"/>
                </a:solidFill>
                <a:latin typeface="Aptos"/>
              </a:rPr>
              <a:t>2,44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0400" y="5313043"/>
            <a:ext cx="1444320" cy="273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500" b="1" i="0" dirty="0">
                <a:solidFill>
                  <a:srgbClr val="756B70"/>
                </a:solidFill>
                <a:latin typeface="Aptos"/>
              </a:rPr>
              <a:t>2023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47800" y="3337200"/>
            <a:ext cx="1444320" cy="1938600"/>
          </a:xfrm>
          <a:prstGeom prst="roundRect">
            <a:avLst/>
          </a:prstGeom>
          <a:solidFill>
            <a:srgbClr val="F2B5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47800" y="2953080"/>
            <a:ext cx="1444320" cy="328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2000" b="1" i="0">
                <a:solidFill>
                  <a:srgbClr val="30252B"/>
                </a:solidFill>
                <a:latin typeface="Aptos"/>
              </a:rPr>
              <a:t>3,16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7800" y="5309460"/>
            <a:ext cx="1444320" cy="273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500" b="1" i="0" dirty="0">
                <a:solidFill>
                  <a:srgbClr val="756B70"/>
                </a:solidFill>
                <a:latin typeface="Aptos"/>
              </a:rPr>
              <a:t>2024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05200" y="2961000"/>
            <a:ext cx="1444320" cy="2314800"/>
          </a:xfrm>
          <a:prstGeom prst="roundRect">
            <a:avLst/>
          </a:prstGeom>
          <a:solidFill>
            <a:srgbClr val="E86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05200" y="2576880"/>
            <a:ext cx="1444320" cy="328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2000" b="1" i="0">
                <a:solidFill>
                  <a:srgbClr val="CE4C7C"/>
                </a:solidFill>
                <a:latin typeface="Aptos"/>
              </a:rPr>
              <a:t>3,77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05200" y="5313043"/>
            <a:ext cx="1444320" cy="273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500" b="1" i="0" dirty="0">
                <a:solidFill>
                  <a:srgbClr val="756B70"/>
                </a:solidFill>
                <a:latin typeface="Aptos"/>
              </a:rPr>
              <a:t>2025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9560" y="2432160"/>
            <a:ext cx="3574800" cy="3135960"/>
          </a:xfrm>
          <a:prstGeom prst="roundRect">
            <a:avLst/>
          </a:prstGeom>
          <a:solidFill>
            <a:srgbClr val="FC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11860" y="3036060"/>
            <a:ext cx="2770200" cy="7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6600" b="1" i="0" dirty="0">
                <a:solidFill>
                  <a:srgbClr val="CE4C7C"/>
                </a:solidFill>
                <a:latin typeface="Aptos"/>
              </a:rPr>
              <a:t>14,3%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0040" y="3904560"/>
            <a:ext cx="2706120" cy="776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2000" b="1" i="0" dirty="0" err="1">
                <a:solidFill>
                  <a:srgbClr val="30252B"/>
                </a:solidFill>
                <a:latin typeface="Aptos"/>
              </a:rPr>
              <a:t>доля</a:t>
            </a:r>
            <a:r>
              <a:rPr sz="2000" b="1" i="0" dirty="0">
                <a:solidFill>
                  <a:srgbClr val="30252B"/>
                </a:solidFill>
                <a:latin typeface="Aptos"/>
              </a:rPr>
              <a:t> </a:t>
            </a:r>
            <a:r>
              <a:rPr sz="2000" b="1" i="0" dirty="0" err="1">
                <a:solidFill>
                  <a:srgbClr val="30252B"/>
                </a:solidFill>
                <a:latin typeface="Aptos"/>
              </a:rPr>
              <a:t>онлайн-торговли</a:t>
            </a:r>
            <a:endParaRPr sz="2000" b="1" i="0" dirty="0">
              <a:solidFill>
                <a:srgbClr val="30252B"/>
              </a:solidFill>
              <a:latin typeface="Aptos"/>
            </a:endParaRPr>
          </a:p>
          <a:p>
            <a:r>
              <a:rPr sz="2000" b="1" i="0" dirty="0" err="1">
                <a:solidFill>
                  <a:srgbClr val="30252B"/>
                </a:solidFill>
                <a:latin typeface="Aptos"/>
              </a:rPr>
              <a:t>в</a:t>
            </a:r>
            <a:r>
              <a:rPr sz="2000" b="1" i="0" dirty="0">
                <a:solidFill>
                  <a:srgbClr val="30252B"/>
                </a:solidFill>
                <a:latin typeface="Aptos"/>
              </a:rPr>
              <a:t> </a:t>
            </a:r>
            <a:r>
              <a:rPr sz="2000" b="1" i="0" dirty="0" err="1">
                <a:solidFill>
                  <a:srgbClr val="30252B"/>
                </a:solidFill>
                <a:latin typeface="Aptos"/>
              </a:rPr>
              <a:t>рознице</a:t>
            </a:r>
            <a:r>
              <a:rPr sz="2000" b="1" i="0" dirty="0">
                <a:solidFill>
                  <a:srgbClr val="30252B"/>
                </a:solidFill>
                <a:latin typeface="Aptos"/>
              </a:rPr>
              <a:t> РК (2025)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0"/>
            <a:ext cx="1036320" cy="111528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90560"/>
            <a:ext cx="822600" cy="667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1720" y="265320"/>
            <a:ext cx="4571640" cy="319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1300" b="1" i="0" dirty="0">
                <a:solidFill>
                  <a:srgbClr val="CE4C7C"/>
                </a:solidFill>
                <a:latin typeface="Aptos"/>
              </a:rPr>
              <a:t>КОЛЛЕКТЫ ОТ СОФЫ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60920" y="283320"/>
            <a:ext cx="4214880" cy="237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1000" b="1" i="0" dirty="0">
                <a:solidFill>
                  <a:srgbClr val="756B70"/>
                </a:solidFill>
                <a:latin typeface="Aptos"/>
              </a:rPr>
              <a:t>ПРИВЛЕКАТЕЛЬНОСТЬ</a:t>
            </a:r>
          </a:p>
        </p:txBody>
      </p:sp>
      <p:sp>
        <p:nvSpPr>
          <p:cNvPr id="6" name="Rectangle 5"/>
          <p:cNvSpPr/>
          <p:nvPr/>
        </p:nvSpPr>
        <p:spPr>
          <a:xfrm>
            <a:off x="631080" y="6469560"/>
            <a:ext cx="10963440" cy="10440"/>
          </a:xfrm>
          <a:prstGeom prst="rect">
            <a:avLst/>
          </a:prstGeom>
          <a:solidFill>
            <a:srgbClr val="EE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82600" y="6510600"/>
            <a:ext cx="456840" cy="182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00" b="1" i="0">
                <a:solidFill>
                  <a:srgbClr val="CE4C7C"/>
                </a:solidFill>
                <a:latin typeface="Aptos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786240"/>
            <a:ext cx="10881000" cy="2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1140" b="1" i="0" dirty="0">
                <a:solidFill>
                  <a:srgbClr val="CE4C7C"/>
                </a:solidFill>
                <a:latin typeface="Aptos"/>
              </a:rPr>
              <a:t>ПОЧЕМУ ВЫБРАЛИ КАЗАХСТАН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1080" y="1129320"/>
            <a:ext cx="10990800" cy="639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lang="ru-RU" sz="3200" b="1" dirty="0">
                <a:solidFill>
                  <a:srgbClr val="30252B"/>
                </a:solidFill>
                <a:latin typeface="Aptos"/>
              </a:rPr>
              <a:t>А</a:t>
            </a:r>
            <a:r>
              <a:rPr sz="3200" b="1" i="0" dirty="0" err="1">
                <a:solidFill>
                  <a:srgbClr val="30252B"/>
                </a:solidFill>
                <a:latin typeface="Aptos"/>
              </a:rPr>
              <a:t>ргумент</a:t>
            </a:r>
            <a:r>
              <a:rPr lang="ru-RU" sz="3200" b="1" i="0" dirty="0">
                <a:solidFill>
                  <a:srgbClr val="30252B"/>
                </a:solidFill>
                <a:latin typeface="Aptos"/>
              </a:rPr>
              <a:t>ы</a:t>
            </a:r>
            <a:r>
              <a:rPr sz="3200" b="1" i="0" dirty="0">
                <a:solidFill>
                  <a:srgbClr val="30252B"/>
                </a:solidFill>
                <a:latin typeface="Aptos"/>
              </a:rPr>
              <a:t> </a:t>
            </a:r>
            <a:r>
              <a:rPr sz="3200" b="1" i="0" dirty="0" err="1">
                <a:solidFill>
                  <a:srgbClr val="30252B"/>
                </a:solidFill>
                <a:latin typeface="Aptos"/>
              </a:rPr>
              <a:t>в</a:t>
            </a:r>
            <a:r>
              <a:rPr sz="3200" b="1" i="0" dirty="0">
                <a:solidFill>
                  <a:srgbClr val="30252B"/>
                </a:solidFill>
                <a:latin typeface="Aptos"/>
              </a:rPr>
              <a:t> </a:t>
            </a:r>
            <a:r>
              <a:rPr sz="3200" b="1" i="0" dirty="0" err="1">
                <a:solidFill>
                  <a:srgbClr val="30252B"/>
                </a:solidFill>
                <a:latin typeface="Aptos"/>
              </a:rPr>
              <a:t>пользу</a:t>
            </a:r>
            <a:r>
              <a:rPr sz="3200" b="1" i="0" dirty="0">
                <a:solidFill>
                  <a:srgbClr val="30252B"/>
                </a:solidFill>
                <a:latin typeface="Aptos"/>
              </a:rPr>
              <a:t> </a:t>
            </a:r>
            <a:r>
              <a:rPr sz="3200" b="1" i="0" dirty="0" err="1">
                <a:solidFill>
                  <a:srgbClr val="30252B"/>
                </a:solidFill>
                <a:latin typeface="Aptos"/>
              </a:rPr>
              <a:t>рынка</a:t>
            </a:r>
            <a:endParaRPr sz="3200" b="1" i="0" dirty="0">
              <a:solidFill>
                <a:srgbClr val="30252B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8440" y="1834200"/>
            <a:ext cx="10908360" cy="392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1500" b="0" i="0">
                <a:solidFill>
                  <a:srgbClr val="756B70"/>
                </a:solidFill>
                <a:latin typeface="Aptos"/>
              </a:rPr>
              <a:t>Здесь сходятся цифровой спрос, логистика и аудитория авторов.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440" y="2487240"/>
            <a:ext cx="5339880" cy="1371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E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642760"/>
            <a:ext cx="383760" cy="273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1300" b="1" i="0">
                <a:solidFill>
                  <a:srgbClr val="CE4C7C"/>
                </a:solidFill>
                <a:latin typeface="Apto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960" y="2624400"/>
            <a:ext cx="4324680" cy="447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2400" b="1" i="0">
                <a:solidFill>
                  <a:srgbClr val="30252B"/>
                </a:solidFill>
                <a:latin typeface="Aptos"/>
              </a:rPr>
              <a:t>86%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960" y="3182040"/>
            <a:ext cx="4297320" cy="539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1520" b="0" i="0" dirty="0">
                <a:solidFill>
                  <a:srgbClr val="756B70"/>
                </a:solidFill>
                <a:latin typeface="Aptos"/>
              </a:rPr>
              <a:t>e-commerce </a:t>
            </a:r>
            <a:r>
              <a:rPr sz="1520" b="0" i="0" dirty="0" err="1">
                <a:solidFill>
                  <a:srgbClr val="756B70"/>
                </a:solidFill>
                <a:latin typeface="Aptos"/>
              </a:rPr>
              <a:t>приходится</a:t>
            </a:r>
            <a:endParaRPr sz="1520" b="0" i="0" dirty="0">
              <a:solidFill>
                <a:srgbClr val="756B70"/>
              </a:solidFill>
              <a:latin typeface="Aptos"/>
            </a:endParaRPr>
          </a:p>
          <a:p>
            <a:r>
              <a:rPr sz="1520" b="0" i="0" dirty="0" err="1">
                <a:solidFill>
                  <a:srgbClr val="756B70"/>
                </a:solidFill>
                <a:latin typeface="Aptos"/>
              </a:rPr>
              <a:t>на</a:t>
            </a:r>
            <a:r>
              <a:rPr sz="1520" b="0" i="0" dirty="0">
                <a:solidFill>
                  <a:srgbClr val="756B70"/>
                </a:solidFill>
                <a:latin typeface="Aptos"/>
              </a:rPr>
              <a:t> </a:t>
            </a:r>
            <a:r>
              <a:rPr sz="1520" b="0" i="0" dirty="0" err="1">
                <a:solidFill>
                  <a:srgbClr val="756B70"/>
                </a:solidFill>
                <a:latin typeface="Aptos"/>
              </a:rPr>
              <a:t>маркетплейсы</a:t>
            </a:r>
            <a:endParaRPr sz="1520" b="0" i="0" dirty="0">
              <a:solidFill>
                <a:srgbClr val="756B70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199560" y="2487240"/>
            <a:ext cx="5339880" cy="1371240"/>
          </a:xfrm>
          <a:prstGeom prst="roundRect">
            <a:avLst/>
          </a:prstGeom>
          <a:solidFill>
            <a:srgbClr val="FC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9800" y="2642760"/>
            <a:ext cx="383760" cy="273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1300" b="1" i="0">
                <a:solidFill>
                  <a:srgbClr val="CE4C7C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31080" y="2624400"/>
            <a:ext cx="4324680" cy="447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2400" b="1" i="0">
                <a:solidFill>
                  <a:srgbClr val="30252B"/>
                </a:solidFill>
                <a:latin typeface="Aptos"/>
              </a:rPr>
              <a:t>Китай рядом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31080" y="3182040"/>
            <a:ext cx="4297320" cy="539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1520" b="0" i="0">
                <a:solidFill>
                  <a:srgbClr val="756B70"/>
                </a:solidFill>
                <a:latin typeface="Aptos"/>
              </a:rPr>
              <a:t>Прямые сухопутные маршруты</a:t>
            </a:r>
          </a:p>
          <a:p>
            <a:r>
              <a:rPr sz="1520" b="0" i="0">
                <a:solidFill>
                  <a:srgbClr val="756B70"/>
                </a:solidFill>
                <a:latin typeface="Aptos"/>
              </a:rPr>
              <a:t>через казахстанские хабы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440" y="4041720"/>
            <a:ext cx="5339880" cy="1371240"/>
          </a:xfrm>
          <a:prstGeom prst="roundRect">
            <a:avLst/>
          </a:prstGeom>
          <a:solidFill>
            <a:srgbClr val="FC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4197240"/>
            <a:ext cx="383760" cy="273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1300" b="1" i="0">
                <a:solidFill>
                  <a:srgbClr val="CE4C7C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960" y="4178880"/>
            <a:ext cx="4324680" cy="447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2400" b="1" i="0">
                <a:solidFill>
                  <a:srgbClr val="30252B"/>
                </a:solidFill>
                <a:latin typeface="Aptos"/>
              </a:rPr>
              <a:t>KZ + RU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9960" y="4736520"/>
            <a:ext cx="4297320" cy="539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1520" b="0" i="0">
                <a:solidFill>
                  <a:srgbClr val="756B70"/>
                </a:solidFill>
                <a:latin typeface="Aptos"/>
              </a:rPr>
              <a:t>Двухъязычная локализация</a:t>
            </a:r>
          </a:p>
          <a:p>
            <a:r>
              <a:rPr sz="1520" b="0" i="0">
                <a:solidFill>
                  <a:srgbClr val="756B70"/>
                </a:solidFill>
                <a:latin typeface="Aptos"/>
              </a:rPr>
              <a:t>без полной смены команды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9560" y="4041720"/>
            <a:ext cx="5339880" cy="1371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E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9800" y="4197240"/>
            <a:ext cx="383760" cy="273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1300" b="1" i="0">
                <a:solidFill>
                  <a:srgbClr val="CE4C7C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31080" y="4178880"/>
            <a:ext cx="4324680" cy="447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2400" b="1" i="0">
                <a:solidFill>
                  <a:srgbClr val="30252B"/>
                </a:solidFill>
                <a:latin typeface="Aptos"/>
              </a:rPr>
              <a:t>Авторская сцена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31080" y="4736520"/>
            <a:ext cx="4297320" cy="539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1520" b="0" i="0" dirty="0">
                <a:solidFill>
                  <a:srgbClr val="756B70"/>
                </a:solidFill>
                <a:latin typeface="Aptos"/>
              </a:rPr>
              <a:t>Comic Con Astana</a:t>
            </a:r>
          </a:p>
          <a:p>
            <a:r>
              <a:rPr sz="1520" b="0" i="0" dirty="0" err="1">
                <a:solidFill>
                  <a:srgbClr val="756B70"/>
                </a:solidFill>
                <a:latin typeface="Aptos"/>
              </a:rPr>
              <a:t>с</a:t>
            </a:r>
            <a:r>
              <a:rPr sz="1520" b="0" i="0" dirty="0">
                <a:solidFill>
                  <a:srgbClr val="756B70"/>
                </a:solidFill>
                <a:latin typeface="Aptos"/>
              </a:rPr>
              <a:t> «</a:t>
            </a:r>
            <a:r>
              <a:rPr sz="1520" b="0" i="0" dirty="0" err="1">
                <a:solidFill>
                  <a:srgbClr val="756B70"/>
                </a:solidFill>
                <a:latin typeface="Aptos"/>
              </a:rPr>
              <a:t>Аллеей</a:t>
            </a:r>
            <a:r>
              <a:rPr sz="1520" b="0" i="0" dirty="0">
                <a:solidFill>
                  <a:srgbClr val="756B70"/>
                </a:solidFill>
                <a:latin typeface="Aptos"/>
              </a:rPr>
              <a:t> </a:t>
            </a:r>
            <a:r>
              <a:rPr sz="1520" b="0" i="0" dirty="0" err="1">
                <a:solidFill>
                  <a:srgbClr val="756B70"/>
                </a:solidFill>
                <a:latin typeface="Aptos"/>
              </a:rPr>
              <a:t>авторов</a:t>
            </a:r>
            <a:r>
              <a:rPr sz="1520" b="0" i="0" dirty="0">
                <a:solidFill>
                  <a:srgbClr val="756B70"/>
                </a:solidFill>
                <a:latin typeface="Aptos"/>
              </a:rPr>
              <a:t>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0"/>
            <a:ext cx="1036320" cy="111528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90560"/>
            <a:ext cx="822600" cy="667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1720" y="265320"/>
            <a:ext cx="4571640" cy="319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1300" b="1" i="0">
                <a:solidFill>
                  <a:srgbClr val="CE4C7C"/>
                </a:solidFill>
                <a:latin typeface="Aptos"/>
              </a:rPr>
              <a:t>КОЛЛЕКТЫ ОТ СОФЫ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60920" y="283320"/>
            <a:ext cx="4214880" cy="237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1000" b="1" i="0" dirty="0">
                <a:solidFill>
                  <a:srgbClr val="756B70"/>
                </a:solidFill>
                <a:latin typeface="Aptos"/>
              </a:rPr>
              <a:t>КОНКУРЕНТЫ</a:t>
            </a:r>
          </a:p>
        </p:txBody>
      </p:sp>
      <p:sp>
        <p:nvSpPr>
          <p:cNvPr id="6" name="Rectangle 5"/>
          <p:cNvSpPr/>
          <p:nvPr/>
        </p:nvSpPr>
        <p:spPr>
          <a:xfrm>
            <a:off x="631080" y="6469560"/>
            <a:ext cx="10963440" cy="10440"/>
          </a:xfrm>
          <a:prstGeom prst="rect">
            <a:avLst/>
          </a:prstGeom>
          <a:solidFill>
            <a:srgbClr val="EE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82600" y="6510600"/>
            <a:ext cx="456840" cy="182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00" b="1" i="0">
                <a:solidFill>
                  <a:srgbClr val="CE4C7C"/>
                </a:solidFill>
                <a:latin typeface="Aptos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786240"/>
            <a:ext cx="10881000" cy="2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1140" b="1" i="0">
                <a:solidFill>
                  <a:srgbClr val="CE4C7C"/>
                </a:solidFill>
                <a:latin typeface="Aptos"/>
              </a:rPr>
              <a:t>КОНКУРЕНТНАЯ СРЕДА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1080" y="1129320"/>
            <a:ext cx="10990800" cy="639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3200" b="1" i="0">
                <a:solidFill>
                  <a:srgbClr val="30252B"/>
                </a:solidFill>
                <a:latin typeface="Aptos"/>
              </a:rPr>
              <a:t>Спрос уже обслуживают местные игроки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440" y="1834200"/>
            <a:ext cx="10908360" cy="392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1500" b="0" i="0">
                <a:solidFill>
                  <a:srgbClr val="756B70"/>
                </a:solidFill>
                <a:latin typeface="Aptos"/>
              </a:rPr>
              <a:t>Опубликованные предложения в Казахстане, цены «от».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440" y="2496240"/>
            <a:ext cx="3584160" cy="249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E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040" y="2752200"/>
            <a:ext cx="3081240" cy="228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1020" b="1" i="0">
                <a:solidFill>
                  <a:srgbClr val="CE4C7C"/>
                </a:solidFill>
                <a:latin typeface="Aptos"/>
              </a:rPr>
              <a:t>АЛМАТЫ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040" y="3145680"/>
            <a:ext cx="3126960" cy="447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2300" b="1" i="0">
                <a:solidFill>
                  <a:srgbClr val="30252B"/>
                </a:solidFill>
                <a:latin typeface="Aptos"/>
              </a:rPr>
              <a:t>WellGifts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400" y="3657600"/>
            <a:ext cx="3090240" cy="347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1490" b="0" i="0">
                <a:solidFill>
                  <a:srgbClr val="756B70"/>
                </a:solidFill>
                <a:latin typeface="Aptos"/>
              </a:rPr>
              <a:t>Акриловые брелоки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040" y="4069080"/>
            <a:ext cx="3017160" cy="429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2500" b="1" i="0">
                <a:solidFill>
                  <a:srgbClr val="CE4C7C"/>
                </a:solidFill>
                <a:latin typeface="Aptos"/>
              </a:rPr>
              <a:t>от 400 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400" y="4553640"/>
            <a:ext cx="3035520" cy="246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1230" b="0" i="0">
                <a:solidFill>
                  <a:srgbClr val="756B70"/>
                </a:solidFill>
                <a:latin typeface="Aptos"/>
              </a:rPr>
              <a:t>от 100 шт.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0120" y="2496240"/>
            <a:ext cx="3584160" cy="2495880"/>
          </a:xfrm>
          <a:prstGeom prst="roundRect">
            <a:avLst/>
          </a:prstGeom>
          <a:solidFill>
            <a:srgbClr val="FC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17720" y="2752200"/>
            <a:ext cx="3081240" cy="228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1020" b="1" i="0">
                <a:solidFill>
                  <a:srgbClr val="CE4C7C"/>
                </a:solidFill>
                <a:latin typeface="Aptos"/>
              </a:rPr>
              <a:t>АЛМАТЫ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3145680"/>
            <a:ext cx="3126960" cy="447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2300" b="1" i="0">
                <a:solidFill>
                  <a:srgbClr val="30252B"/>
                </a:solidFill>
                <a:latin typeface="Aptos"/>
              </a:rPr>
              <a:t>ART-Grand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26720" y="3657600"/>
            <a:ext cx="3090240" cy="347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1490" b="0" i="0">
                <a:solidFill>
                  <a:srgbClr val="756B70"/>
                </a:solidFill>
                <a:latin typeface="Aptos"/>
              </a:rPr>
              <a:t>Акрил / УФ-печать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4069080"/>
            <a:ext cx="3017160" cy="429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2500" b="1" i="0">
                <a:solidFill>
                  <a:srgbClr val="CE4C7C"/>
                </a:solidFill>
                <a:latin typeface="Aptos"/>
              </a:rPr>
              <a:t>от 400 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26720" y="4553640"/>
            <a:ext cx="3035520" cy="246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1230" b="0" i="0">
                <a:solidFill>
                  <a:srgbClr val="756B70"/>
                </a:solidFill>
                <a:latin typeface="Aptos"/>
              </a:rPr>
              <a:t>от 50 шт.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1440" y="2496240"/>
            <a:ext cx="3584160" cy="249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E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39400" y="2752200"/>
            <a:ext cx="3081240" cy="228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1020" b="1" i="0">
                <a:solidFill>
                  <a:srgbClr val="CE4C7C"/>
                </a:solidFill>
                <a:latin typeface="Aptos"/>
              </a:rPr>
              <a:t>АЛМАТЫ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400" y="3145680"/>
            <a:ext cx="3126960" cy="447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2300" b="1" i="0">
                <a:solidFill>
                  <a:srgbClr val="30252B"/>
                </a:solidFill>
                <a:latin typeface="Aptos"/>
              </a:rPr>
              <a:t>AnyPrint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48400" y="3657600"/>
            <a:ext cx="3090240" cy="347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1490" b="0" i="0">
                <a:solidFill>
                  <a:srgbClr val="756B70"/>
                </a:solidFill>
                <a:latin typeface="Aptos"/>
              </a:rPr>
              <a:t>Принт на футболке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400" y="4069080"/>
            <a:ext cx="3017160" cy="429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2500" b="1" i="0" dirty="0" err="1">
                <a:solidFill>
                  <a:srgbClr val="CE4C7C"/>
                </a:solidFill>
                <a:latin typeface="Aptos"/>
              </a:rPr>
              <a:t>от</a:t>
            </a:r>
            <a:r>
              <a:rPr sz="2500" b="1" i="0" dirty="0">
                <a:solidFill>
                  <a:srgbClr val="CE4C7C"/>
                </a:solidFill>
                <a:latin typeface="Aptos"/>
              </a:rPr>
              <a:t> </a:t>
            </a:r>
            <a:r>
              <a:rPr lang="ru-RU" sz="2500" b="1" i="0" dirty="0">
                <a:solidFill>
                  <a:srgbClr val="CE4C7C"/>
                </a:solidFill>
                <a:latin typeface="Aptos"/>
              </a:rPr>
              <a:t>2</a:t>
            </a:r>
            <a:r>
              <a:rPr sz="2500" b="1" i="0" dirty="0">
                <a:solidFill>
                  <a:srgbClr val="CE4C7C"/>
                </a:solidFill>
                <a:latin typeface="Aptos"/>
              </a:rPr>
              <a:t> 500 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48400" y="4553640"/>
            <a:ext cx="3035520" cy="246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1230" b="0" i="0" dirty="0" err="1">
                <a:solidFill>
                  <a:srgbClr val="756B70"/>
                </a:solidFill>
                <a:latin typeface="Aptos"/>
              </a:rPr>
              <a:t>от</a:t>
            </a:r>
            <a:r>
              <a:rPr sz="1230" b="0" i="0" dirty="0">
                <a:solidFill>
                  <a:srgbClr val="756B70"/>
                </a:solidFill>
                <a:latin typeface="Aptos"/>
              </a:rPr>
              <a:t> 1</a:t>
            </a:r>
            <a:r>
              <a:rPr lang="ru-RU" sz="1230" b="0" i="0" dirty="0">
                <a:solidFill>
                  <a:srgbClr val="756B70"/>
                </a:solidFill>
                <a:latin typeface="Aptos"/>
              </a:rPr>
              <a:t>0</a:t>
            </a:r>
            <a:r>
              <a:rPr sz="1230" b="0" i="0" dirty="0">
                <a:solidFill>
                  <a:srgbClr val="756B70"/>
                </a:solidFill>
                <a:latin typeface="Aptos"/>
              </a:rPr>
              <a:t> </a:t>
            </a:r>
            <a:r>
              <a:rPr sz="1230" b="0" i="0" dirty="0" err="1">
                <a:solidFill>
                  <a:srgbClr val="756B70"/>
                </a:solidFill>
                <a:latin typeface="Aptos"/>
              </a:rPr>
              <a:t>шт</a:t>
            </a:r>
            <a:r>
              <a:rPr sz="1230" b="0" i="0" dirty="0">
                <a:solidFill>
                  <a:srgbClr val="756B70"/>
                </a:solidFill>
                <a:latin typeface="Aptos"/>
              </a:rPr>
              <a:t>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9080" y="5276160"/>
            <a:ext cx="10881000" cy="585000"/>
          </a:xfrm>
          <a:prstGeom prst="roundRect">
            <a:avLst/>
          </a:prstGeom>
          <a:solidFill>
            <a:srgbClr val="FC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8680" y="5381280"/>
            <a:ext cx="10442160" cy="35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1700" b="1" i="0">
                <a:solidFill>
                  <a:srgbClr val="30252B"/>
                </a:solidFill>
                <a:latin typeface="Aptos"/>
              </a:rPr>
              <a:t>Возможность: не срочная печать 1 заказа, а совместные фабричные тиражи.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6099120"/>
            <a:ext cx="10844280" cy="237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939" b="0" i="0">
                <a:solidFill>
                  <a:srgbClr val="756B70"/>
                </a:solidFill>
                <a:latin typeface="Aptos"/>
              </a:rPr>
              <a:t>Цены и минимальные тиражи с сайтов компаний · разные изделия и условия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0"/>
            <a:ext cx="1036320" cy="111528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90560"/>
            <a:ext cx="822600" cy="667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1720" y="265320"/>
            <a:ext cx="4571640" cy="319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1300" b="1" i="0">
                <a:solidFill>
                  <a:srgbClr val="CE4C7C"/>
                </a:solidFill>
                <a:latin typeface="Aptos"/>
              </a:rPr>
              <a:t>КОЛЛЕКТЫ ОТ СОФЫ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60920" y="283320"/>
            <a:ext cx="4214880" cy="237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1000" b="1" i="0" dirty="0">
                <a:solidFill>
                  <a:srgbClr val="756B70"/>
                </a:solidFill>
                <a:latin typeface="Aptos"/>
              </a:rPr>
              <a:t>ТОЧКИ ВХОДА</a:t>
            </a:r>
          </a:p>
        </p:txBody>
      </p:sp>
      <p:sp>
        <p:nvSpPr>
          <p:cNvPr id="6" name="Rectangle 5"/>
          <p:cNvSpPr/>
          <p:nvPr/>
        </p:nvSpPr>
        <p:spPr>
          <a:xfrm>
            <a:off x="631080" y="6469560"/>
            <a:ext cx="10963440" cy="10440"/>
          </a:xfrm>
          <a:prstGeom prst="rect">
            <a:avLst/>
          </a:prstGeom>
          <a:solidFill>
            <a:srgbClr val="EE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82600" y="6510600"/>
            <a:ext cx="456840" cy="182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00" b="1" i="0">
                <a:solidFill>
                  <a:srgbClr val="CE4C7C"/>
                </a:solidFill>
                <a:latin typeface="Aptos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786240"/>
            <a:ext cx="10881000" cy="2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1140" b="1" i="0">
                <a:solidFill>
                  <a:srgbClr val="CE4C7C"/>
                </a:solidFill>
                <a:latin typeface="Aptos"/>
              </a:rPr>
              <a:t>ГДЕ ИСКАТЬ ПЕРВЫХ КЛИЕНТОВ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1080" y="1129320"/>
            <a:ext cx="10990800" cy="639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3200" b="1" i="0">
                <a:solidFill>
                  <a:srgbClr val="30252B"/>
                </a:solidFill>
                <a:latin typeface="Aptos"/>
              </a:rPr>
              <a:t>Алматы → Астана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440" y="1834200"/>
            <a:ext cx="10908360" cy="392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1500" b="0" i="0">
                <a:solidFill>
                  <a:srgbClr val="756B70"/>
                </a:solidFill>
                <a:latin typeface="Aptos"/>
              </a:rPr>
              <a:t>Начинаем там, где уже есть исполнители и креативные сообщества.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440" y="2496240"/>
            <a:ext cx="5330520" cy="2505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E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2760" y="2770560"/>
            <a:ext cx="566640" cy="392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2200" b="1" i="0">
                <a:solidFill>
                  <a:srgbClr val="CE4C7C"/>
                </a:solidFill>
                <a:latin typeface="Apto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743200"/>
            <a:ext cx="3894840" cy="520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2800" b="1" i="0">
                <a:solidFill>
                  <a:srgbClr val="30252B"/>
                </a:solidFill>
                <a:latin typeface="Aptos"/>
              </a:rPr>
              <a:t>Алматы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1120" y="3566160"/>
            <a:ext cx="4370400" cy="36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1700" b="1" i="0">
                <a:solidFill>
                  <a:srgbClr val="CE4C7C"/>
                </a:solidFill>
                <a:latin typeface="Aptos"/>
              </a:rPr>
              <a:t>Пилотная база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078080"/>
            <a:ext cx="4507560" cy="621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1600" b="0" i="0">
                <a:solidFill>
                  <a:srgbClr val="756B70"/>
                </a:solidFill>
                <a:latin typeface="Aptos"/>
              </a:rPr>
              <a:t>Локальная печать, конкуренты</a:t>
            </a:r>
          </a:p>
          <a:p>
            <a:r>
              <a:rPr sz="1600" b="0" i="0">
                <a:solidFill>
                  <a:srgbClr val="756B70"/>
                </a:solidFill>
                <a:latin typeface="Aptos"/>
              </a:rPr>
              <a:t>и авторы небольших брендов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200" y="2496240"/>
            <a:ext cx="5321520" cy="2505240"/>
          </a:xfrm>
          <a:prstGeom prst="roundRect">
            <a:avLst/>
          </a:prstGeom>
          <a:solidFill>
            <a:srgbClr val="FC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46520" y="2770560"/>
            <a:ext cx="566640" cy="392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2200" b="1" i="0">
                <a:solidFill>
                  <a:srgbClr val="CE4C7C"/>
                </a:solidFill>
                <a:latin typeface="Apto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59680" y="2743200"/>
            <a:ext cx="3867480" cy="520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2800" b="1" i="0">
                <a:solidFill>
                  <a:srgbClr val="30252B"/>
                </a:solidFill>
                <a:latin typeface="Aptos"/>
              </a:rPr>
              <a:t>Астана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566160"/>
            <a:ext cx="4388760" cy="36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1700" b="1" i="0">
                <a:solidFill>
                  <a:srgbClr val="CE4C7C"/>
                </a:solidFill>
                <a:latin typeface="Aptos"/>
              </a:rPr>
              <a:t>Вторая волна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078080"/>
            <a:ext cx="4507560" cy="621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1600" b="0" i="0">
                <a:solidFill>
                  <a:srgbClr val="756B70"/>
                </a:solidFill>
                <a:latin typeface="Aptos"/>
              </a:rPr>
              <a:t>Comic Con Astana и</a:t>
            </a:r>
          </a:p>
          <a:p>
            <a:r>
              <a:rPr sz="1600" b="0" i="0">
                <a:solidFill>
                  <a:srgbClr val="756B70"/>
                </a:solidFill>
                <a:latin typeface="Aptos"/>
              </a:rPr>
              <a:t>сообщество авторского мерча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440" y="5266800"/>
            <a:ext cx="10826280" cy="520920"/>
          </a:xfrm>
          <a:prstGeom prst="roundRect">
            <a:avLst/>
          </a:prstGeom>
          <a:solidFill>
            <a:srgbClr val="F8D9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87040" y="5372280"/>
            <a:ext cx="10387080" cy="292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1600" b="1" i="0" dirty="0" err="1">
                <a:solidFill>
                  <a:srgbClr val="30252B"/>
                </a:solidFill>
                <a:latin typeface="Aptos"/>
              </a:rPr>
              <a:t>Кому</a:t>
            </a:r>
            <a:r>
              <a:rPr sz="1600" b="1" i="0" dirty="0">
                <a:solidFill>
                  <a:srgbClr val="30252B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30252B"/>
                </a:solidFill>
                <a:latin typeface="Aptos"/>
              </a:rPr>
              <a:t>продаём</a:t>
            </a:r>
            <a:r>
              <a:rPr sz="1600" b="1" i="0" dirty="0">
                <a:solidFill>
                  <a:srgbClr val="30252B"/>
                </a:solidFill>
                <a:latin typeface="Aptos"/>
              </a:rPr>
              <a:t>: </a:t>
            </a:r>
            <a:r>
              <a:rPr sz="1600" b="1" i="0" dirty="0" err="1">
                <a:solidFill>
                  <a:srgbClr val="30252B"/>
                </a:solidFill>
                <a:latin typeface="Aptos"/>
              </a:rPr>
              <a:t>иллюстраторы</a:t>
            </a:r>
            <a:r>
              <a:rPr sz="1600" b="1" i="0" dirty="0">
                <a:solidFill>
                  <a:srgbClr val="30252B"/>
                </a:solidFill>
                <a:latin typeface="Aptos"/>
              </a:rPr>
              <a:t>  ·  </a:t>
            </a:r>
            <a:r>
              <a:rPr lang="ru-RU" sz="1600" b="1" dirty="0">
                <a:solidFill>
                  <a:srgbClr val="30252B"/>
                </a:solidFill>
                <a:latin typeface="Aptos"/>
              </a:rPr>
              <a:t>маленькие </a:t>
            </a:r>
            <a:r>
              <a:rPr sz="1600" b="1" i="0" dirty="0" err="1">
                <a:solidFill>
                  <a:srgbClr val="30252B"/>
                </a:solidFill>
                <a:latin typeface="Aptos"/>
              </a:rPr>
              <a:t>бренды</a:t>
            </a:r>
            <a:r>
              <a:rPr sz="1600" b="1" i="0" dirty="0">
                <a:solidFill>
                  <a:srgbClr val="30252B"/>
                </a:solidFill>
                <a:latin typeface="Aptos"/>
              </a:rPr>
              <a:t>  ·  </a:t>
            </a:r>
            <a:r>
              <a:rPr sz="1600" b="1" i="0" dirty="0" err="1">
                <a:solidFill>
                  <a:srgbClr val="30252B"/>
                </a:solidFill>
                <a:latin typeface="Aptos"/>
              </a:rPr>
              <a:t>организаторы</a:t>
            </a:r>
            <a:r>
              <a:rPr sz="1600" b="1" i="0" dirty="0">
                <a:solidFill>
                  <a:srgbClr val="30252B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30252B"/>
                </a:solidFill>
                <a:latin typeface="Aptos"/>
              </a:rPr>
              <a:t>событий</a:t>
            </a:r>
            <a:endParaRPr sz="1600" b="1" i="0" dirty="0">
              <a:solidFill>
                <a:srgbClr val="30252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0"/>
            <a:ext cx="1036320" cy="111528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90560"/>
            <a:ext cx="822600" cy="667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1720" y="265320"/>
            <a:ext cx="4571640" cy="319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1300" b="1" i="0">
                <a:solidFill>
                  <a:srgbClr val="CE4C7C"/>
                </a:solidFill>
                <a:latin typeface="Aptos"/>
              </a:rPr>
              <a:t>КОЛЛЕКТЫ ОТ СОФЫ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60920" y="283320"/>
            <a:ext cx="4214880" cy="237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1000" b="1" i="0" dirty="0">
                <a:solidFill>
                  <a:srgbClr val="756B70"/>
                </a:solidFill>
                <a:latin typeface="Aptos"/>
              </a:rPr>
              <a:t>АДАПТАЦИЯ</a:t>
            </a:r>
          </a:p>
        </p:txBody>
      </p:sp>
      <p:sp>
        <p:nvSpPr>
          <p:cNvPr id="6" name="Rectangle 5"/>
          <p:cNvSpPr/>
          <p:nvPr/>
        </p:nvSpPr>
        <p:spPr>
          <a:xfrm>
            <a:off x="631080" y="6469560"/>
            <a:ext cx="10963440" cy="10440"/>
          </a:xfrm>
          <a:prstGeom prst="rect">
            <a:avLst/>
          </a:prstGeom>
          <a:solidFill>
            <a:srgbClr val="EE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82600" y="6510600"/>
            <a:ext cx="456840" cy="182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00" b="1" i="0">
                <a:solidFill>
                  <a:srgbClr val="CE4C7C"/>
                </a:solidFill>
                <a:latin typeface="Aptos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786240"/>
            <a:ext cx="10881000" cy="2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1140" b="1" i="0">
                <a:solidFill>
                  <a:srgbClr val="CE4C7C"/>
                </a:solidFill>
                <a:latin typeface="Aptos"/>
              </a:rPr>
              <a:t>АДАПТАЦИЯ К КАЗАХСТАНУ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1080" y="1129320"/>
            <a:ext cx="10990800" cy="639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lang="ru-RU" sz="3200" b="1" dirty="0">
                <a:solidFill>
                  <a:srgbClr val="30252B"/>
                </a:solidFill>
                <a:latin typeface="Aptos"/>
              </a:rPr>
              <a:t>И</a:t>
            </a:r>
            <a:r>
              <a:rPr sz="3200" b="1" i="0" dirty="0" err="1">
                <a:solidFill>
                  <a:srgbClr val="30252B"/>
                </a:solidFill>
                <a:latin typeface="Aptos"/>
              </a:rPr>
              <a:t>зменения</a:t>
            </a:r>
            <a:r>
              <a:rPr sz="3200" b="1" i="0" dirty="0">
                <a:solidFill>
                  <a:srgbClr val="30252B"/>
                </a:solidFill>
                <a:latin typeface="Aptos"/>
              </a:rPr>
              <a:t> </a:t>
            </a:r>
            <a:r>
              <a:rPr sz="3200" b="1" i="0" dirty="0" err="1">
                <a:solidFill>
                  <a:srgbClr val="30252B"/>
                </a:solidFill>
                <a:latin typeface="Aptos"/>
              </a:rPr>
              <a:t>клиентского</a:t>
            </a:r>
            <a:r>
              <a:rPr sz="3200" b="1" i="0" dirty="0">
                <a:solidFill>
                  <a:srgbClr val="30252B"/>
                </a:solidFill>
                <a:latin typeface="Aptos"/>
              </a:rPr>
              <a:t> </a:t>
            </a:r>
            <a:r>
              <a:rPr sz="3200" b="1" i="0" dirty="0" err="1">
                <a:solidFill>
                  <a:srgbClr val="30252B"/>
                </a:solidFill>
                <a:latin typeface="Aptos"/>
              </a:rPr>
              <a:t>пути</a:t>
            </a:r>
            <a:endParaRPr sz="3200" b="1" i="0" dirty="0">
              <a:solidFill>
                <a:srgbClr val="30252B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8440" y="1834200"/>
            <a:ext cx="10908360" cy="392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1500" b="0" i="0">
                <a:solidFill>
                  <a:srgbClr val="756B70"/>
                </a:solidFill>
                <a:latin typeface="Aptos"/>
              </a:rPr>
              <a:t>Локализация нужна не только в переводе интерфейса.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080" y="2477880"/>
            <a:ext cx="5339880" cy="1389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E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7040" y="2633400"/>
            <a:ext cx="4845960" cy="246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1100" b="1" i="0">
                <a:solidFill>
                  <a:srgbClr val="CE4C7C"/>
                </a:solidFill>
                <a:latin typeface="Aptos"/>
              </a:rPr>
              <a:t>01  ИНТЕРФЕЙС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040" y="2953440"/>
            <a:ext cx="4827600" cy="411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2100" b="1" i="0">
                <a:solidFill>
                  <a:srgbClr val="30252B"/>
                </a:solidFill>
                <a:latin typeface="Aptos"/>
              </a:rPr>
              <a:t>Казахский + русский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20000"/>
            <a:ext cx="4772880" cy="402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1330" b="0" i="0">
                <a:solidFill>
                  <a:srgbClr val="756B70"/>
                </a:solidFill>
                <a:latin typeface="Aptos"/>
              </a:rPr>
              <a:t>Лендинг, статусы заказов,</a:t>
            </a:r>
          </a:p>
          <a:p>
            <a:r>
              <a:rPr sz="1330" b="0" i="0">
                <a:solidFill>
                  <a:srgbClr val="756B70"/>
                </a:solidFill>
                <a:latin typeface="Aptos"/>
              </a:rPr>
              <a:t>ассортимент и сроки в ₸.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477880"/>
            <a:ext cx="5339880" cy="1389600"/>
          </a:xfrm>
          <a:prstGeom prst="roundRect">
            <a:avLst/>
          </a:prstGeom>
          <a:solidFill>
            <a:srgbClr val="FC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9800" y="2633400"/>
            <a:ext cx="4845960" cy="246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1100" b="1" i="0">
                <a:solidFill>
                  <a:srgbClr val="CE4C7C"/>
                </a:solidFill>
                <a:latin typeface="Aptos"/>
              </a:rPr>
              <a:t>02  ЦЕНА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160" y="2953440"/>
            <a:ext cx="4827600" cy="411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2100" b="1" i="0">
                <a:solidFill>
                  <a:srgbClr val="30252B"/>
                </a:solidFill>
                <a:latin typeface="Aptos"/>
              </a:rPr>
              <a:t>Итоговая сумма в 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520" y="3420000"/>
            <a:ext cx="4772880" cy="402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1330" b="0" i="0">
                <a:solidFill>
                  <a:srgbClr val="756B70"/>
                </a:solidFill>
                <a:latin typeface="Aptos"/>
              </a:rPr>
              <a:t>Завод + импорт + доставка</a:t>
            </a:r>
          </a:p>
          <a:p>
            <a:r>
              <a:rPr sz="1330" b="0" i="0">
                <a:solidFill>
                  <a:srgbClr val="756B70"/>
                </a:solidFill>
                <a:latin typeface="Aptos"/>
              </a:rPr>
              <a:t>+ комиссия видны заранее.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080" y="4050720"/>
            <a:ext cx="5339880" cy="1389600"/>
          </a:xfrm>
          <a:prstGeom prst="roundRect">
            <a:avLst/>
          </a:prstGeom>
          <a:solidFill>
            <a:srgbClr val="FC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7040" y="4206240"/>
            <a:ext cx="4845960" cy="246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1100" b="1" i="0">
                <a:solidFill>
                  <a:srgbClr val="CE4C7C"/>
                </a:solidFill>
                <a:latin typeface="Aptos"/>
              </a:rPr>
              <a:t>03  МАРКЕТИНГ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040" y="4526280"/>
            <a:ext cx="4827600" cy="411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2100" b="1" i="0">
                <a:solidFill>
                  <a:srgbClr val="30252B"/>
                </a:solidFill>
                <a:latin typeface="Aptos"/>
              </a:rPr>
              <a:t>Казахстанские авторы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992480"/>
            <a:ext cx="4772880" cy="402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1330" b="0" i="0">
                <a:solidFill>
                  <a:srgbClr val="756B70"/>
                </a:solidFill>
                <a:latin typeface="Aptos"/>
              </a:rPr>
              <a:t>Локальные кейсы, образцы,</a:t>
            </a:r>
          </a:p>
          <a:p>
            <a:r>
              <a:rPr sz="1330" b="0" i="0">
                <a:solidFill>
                  <a:srgbClr val="756B70"/>
                </a:solidFill>
                <a:latin typeface="Aptos"/>
              </a:rPr>
              <a:t>видео и креаторские коллаборации.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4050720"/>
            <a:ext cx="5339880" cy="1389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E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9800" y="4206240"/>
            <a:ext cx="4845960" cy="246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1100" b="1" i="0">
                <a:solidFill>
                  <a:srgbClr val="CE4C7C"/>
                </a:solidFill>
                <a:latin typeface="Aptos"/>
              </a:rPr>
              <a:t>04  ПОДДЕРЖКА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160" y="4526280"/>
            <a:ext cx="4827600" cy="411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2100" b="1" i="0">
                <a:solidFill>
                  <a:srgbClr val="30252B"/>
                </a:solidFill>
                <a:latin typeface="Aptos"/>
              </a:rPr>
              <a:t>WhatsApp + Telegram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7520" y="4992480"/>
            <a:ext cx="4772880" cy="402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1330" b="0" i="0">
                <a:solidFill>
                  <a:srgbClr val="756B70"/>
                </a:solidFill>
                <a:latin typeface="Aptos"/>
              </a:rPr>
              <a:t>Ответы по времени Алматы,</a:t>
            </a:r>
          </a:p>
          <a:p>
            <a:r>
              <a:rPr sz="1330" b="0" i="0">
                <a:solidFill>
                  <a:srgbClr val="756B70"/>
                </a:solidFill>
                <a:latin typeface="Aptos"/>
              </a:rPr>
              <a:t>помощь с файлами и доставкой.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0"/>
            <a:ext cx="1036320" cy="111528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90560"/>
            <a:ext cx="822600" cy="667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1720" y="265320"/>
            <a:ext cx="4571640" cy="319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1300" b="1" i="0">
                <a:solidFill>
                  <a:srgbClr val="CE4C7C"/>
                </a:solidFill>
                <a:latin typeface="Aptos"/>
              </a:rPr>
              <a:t>КОЛЛЕКТЫ ОТ СОФЫ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60920" y="283320"/>
            <a:ext cx="4214880" cy="237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1000" b="1" i="0" dirty="0">
                <a:solidFill>
                  <a:srgbClr val="756B70"/>
                </a:solidFill>
                <a:latin typeface="Aptos"/>
              </a:rPr>
              <a:t>МАРКЕТИНГ </a:t>
            </a:r>
            <a:r>
              <a:rPr sz="1000" b="1" i="0" dirty="0" err="1">
                <a:solidFill>
                  <a:srgbClr val="756B70"/>
                </a:solidFill>
                <a:latin typeface="Aptos"/>
              </a:rPr>
              <a:t>И</a:t>
            </a:r>
            <a:r>
              <a:rPr sz="1000" b="1" i="0" dirty="0">
                <a:solidFill>
                  <a:srgbClr val="756B70"/>
                </a:solidFill>
                <a:latin typeface="Aptos"/>
              </a:rPr>
              <a:t> ЗАПУСК</a:t>
            </a:r>
          </a:p>
        </p:txBody>
      </p:sp>
      <p:sp>
        <p:nvSpPr>
          <p:cNvPr id="6" name="Rectangle 5"/>
          <p:cNvSpPr/>
          <p:nvPr/>
        </p:nvSpPr>
        <p:spPr>
          <a:xfrm>
            <a:off x="631080" y="6469560"/>
            <a:ext cx="10963440" cy="10440"/>
          </a:xfrm>
          <a:prstGeom prst="rect">
            <a:avLst/>
          </a:prstGeom>
          <a:solidFill>
            <a:srgbClr val="EE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82600" y="6510600"/>
            <a:ext cx="456840" cy="182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00" b="1" i="0">
                <a:solidFill>
                  <a:srgbClr val="CE4C7C"/>
                </a:solidFill>
                <a:latin typeface="Aptos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786240"/>
            <a:ext cx="10881000" cy="2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1140" b="1" i="0">
                <a:solidFill>
                  <a:srgbClr val="CE4C7C"/>
                </a:solidFill>
                <a:latin typeface="Aptos"/>
              </a:rPr>
              <a:t>КАК ПРИВЛЕЧЬ КЛИЕНТОВ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1080" y="1129320"/>
            <a:ext cx="10990800" cy="639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3200" b="1" i="0" dirty="0" err="1">
                <a:solidFill>
                  <a:srgbClr val="30252B"/>
                </a:solidFill>
                <a:latin typeface="Aptos"/>
              </a:rPr>
              <a:t>Не</a:t>
            </a:r>
            <a:r>
              <a:rPr sz="3200" b="1" i="0" dirty="0">
                <a:solidFill>
                  <a:srgbClr val="30252B"/>
                </a:solidFill>
                <a:latin typeface="Aptos"/>
              </a:rPr>
              <a:t> </a:t>
            </a:r>
            <a:r>
              <a:rPr sz="3200" b="1" i="0" dirty="0" err="1">
                <a:solidFill>
                  <a:srgbClr val="30252B"/>
                </a:solidFill>
                <a:latin typeface="Aptos"/>
              </a:rPr>
              <a:t>реклама</a:t>
            </a:r>
            <a:r>
              <a:rPr sz="3200" b="1" i="0" dirty="0">
                <a:solidFill>
                  <a:srgbClr val="30252B"/>
                </a:solidFill>
                <a:latin typeface="Aptos"/>
              </a:rPr>
              <a:t> «</a:t>
            </a:r>
            <a:r>
              <a:rPr sz="3200" b="1" i="0" dirty="0" err="1">
                <a:solidFill>
                  <a:srgbClr val="30252B"/>
                </a:solidFill>
                <a:latin typeface="Aptos"/>
              </a:rPr>
              <a:t>всем</a:t>
            </a:r>
            <a:r>
              <a:rPr sz="3200" b="1" i="0" dirty="0">
                <a:solidFill>
                  <a:srgbClr val="30252B"/>
                </a:solidFill>
                <a:latin typeface="Aptos"/>
              </a:rPr>
              <a:t>»</a:t>
            </a:r>
            <a:r>
              <a:rPr lang="en-US" sz="3200" b="1" i="0" dirty="0">
                <a:solidFill>
                  <a:srgbClr val="30252B"/>
                </a:solidFill>
                <a:latin typeface="Aptos"/>
              </a:rPr>
              <a:t>.</a:t>
            </a:r>
            <a:r>
              <a:rPr sz="3200" b="1" i="0" dirty="0">
                <a:solidFill>
                  <a:srgbClr val="30252B"/>
                </a:solidFill>
                <a:latin typeface="Aptos"/>
              </a:rPr>
              <a:t> </a:t>
            </a:r>
            <a:r>
              <a:rPr sz="3200" b="1" i="0" dirty="0" err="1">
                <a:solidFill>
                  <a:srgbClr val="30252B"/>
                </a:solidFill>
                <a:latin typeface="Aptos"/>
              </a:rPr>
              <a:t>Три</a:t>
            </a:r>
            <a:r>
              <a:rPr sz="3200" b="1" i="0" dirty="0">
                <a:solidFill>
                  <a:srgbClr val="30252B"/>
                </a:solidFill>
                <a:latin typeface="Aptos"/>
              </a:rPr>
              <a:t> </a:t>
            </a:r>
            <a:r>
              <a:rPr sz="3200" b="1" i="0" dirty="0" err="1">
                <a:solidFill>
                  <a:srgbClr val="30252B"/>
                </a:solidFill>
                <a:latin typeface="Aptos"/>
              </a:rPr>
              <a:t>точки</a:t>
            </a:r>
            <a:r>
              <a:rPr sz="3200" b="1" i="0" dirty="0">
                <a:solidFill>
                  <a:srgbClr val="30252B"/>
                </a:solidFill>
                <a:latin typeface="Aptos"/>
              </a:rPr>
              <a:t> </a:t>
            </a:r>
            <a:r>
              <a:rPr sz="3200" b="1" i="0" dirty="0" err="1">
                <a:solidFill>
                  <a:srgbClr val="30252B"/>
                </a:solidFill>
                <a:latin typeface="Aptos"/>
              </a:rPr>
              <a:t>контакта</a:t>
            </a:r>
            <a:endParaRPr sz="3200" b="1" i="0" dirty="0">
              <a:solidFill>
                <a:srgbClr val="30252B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8440" y="1834200"/>
            <a:ext cx="10908360" cy="392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1500" b="0" i="0">
                <a:solidFill>
                  <a:srgbClr val="756B70"/>
                </a:solidFill>
                <a:latin typeface="Aptos"/>
              </a:rPr>
              <a:t>Показываем физические образцы и экономику тиража.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440" y="2532960"/>
            <a:ext cx="3574800" cy="208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E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7040" y="2734200"/>
            <a:ext cx="621360" cy="392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2300" b="1" i="0">
                <a:solidFill>
                  <a:srgbClr val="CE4C7C"/>
                </a:solidFill>
                <a:latin typeface="Apto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7040" y="3255120"/>
            <a:ext cx="3135960" cy="36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2000" b="1" i="0">
                <a:solidFill>
                  <a:srgbClr val="30252B"/>
                </a:solidFill>
                <a:latin typeface="Aptos"/>
              </a:rPr>
              <a:t>Instagram / TikTok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040" y="3776400"/>
            <a:ext cx="3090240" cy="630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1410" b="0" i="0">
                <a:solidFill>
                  <a:srgbClr val="756B70"/>
                </a:solidFill>
                <a:latin typeface="Aptos"/>
              </a:rPr>
              <a:t>Коллаборации с KZ-авторами</a:t>
            </a:r>
          </a:p>
          <a:p>
            <a:r>
              <a:rPr sz="1410" b="0" i="0">
                <a:solidFill>
                  <a:srgbClr val="756B70"/>
                </a:solidFill>
                <a:latin typeface="Aptos"/>
              </a:rPr>
              <a:t>и короткие видео образцов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0760" y="2532960"/>
            <a:ext cx="3574800" cy="2084400"/>
          </a:xfrm>
          <a:prstGeom prst="roundRect">
            <a:avLst/>
          </a:prstGeom>
          <a:solidFill>
            <a:srgbClr val="FC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99360" y="2734200"/>
            <a:ext cx="621360" cy="392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2300" b="1" i="0">
                <a:solidFill>
                  <a:srgbClr val="CE4C7C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360" y="3255120"/>
            <a:ext cx="3135960" cy="36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2000" b="1" i="0">
                <a:solidFill>
                  <a:srgbClr val="30252B"/>
                </a:solidFill>
                <a:latin typeface="Aptos"/>
              </a:rPr>
              <a:t>Comic Con Astana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720" y="3776400"/>
            <a:ext cx="3090240" cy="630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1410" b="0" i="0">
                <a:solidFill>
                  <a:srgbClr val="756B70"/>
                </a:solidFill>
                <a:latin typeface="Aptos"/>
              </a:rPr>
              <a:t>«Аллея авторов»: личные контакты</a:t>
            </a:r>
          </a:p>
          <a:p>
            <a:r>
              <a:rPr sz="1410" b="0" i="0">
                <a:solidFill>
                  <a:srgbClr val="756B70"/>
                </a:solidFill>
                <a:latin typeface="Aptos"/>
              </a:rPr>
              <a:t>и предварительные заказы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3440" y="2532960"/>
            <a:ext cx="3574800" cy="208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E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12040" y="2734200"/>
            <a:ext cx="621360" cy="392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2300" b="1" i="0">
                <a:solidFill>
                  <a:srgbClr val="CE4C7C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2040" y="3255120"/>
            <a:ext cx="3135960" cy="36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2000" b="1" i="0">
                <a:solidFill>
                  <a:srgbClr val="30252B"/>
                </a:solidFill>
                <a:latin typeface="Aptos"/>
              </a:rPr>
              <a:t>Комьюнити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776400"/>
            <a:ext cx="3090240" cy="630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1410" b="0" i="0">
                <a:solidFill>
                  <a:srgbClr val="756B70"/>
                </a:solidFill>
                <a:latin typeface="Aptos"/>
              </a:rPr>
              <a:t>Реферальные ссылки, Telegram</a:t>
            </a:r>
          </a:p>
          <a:p>
            <a:r>
              <a:rPr sz="1410" b="0" i="0">
                <a:solidFill>
                  <a:srgbClr val="756B70"/>
                </a:solidFill>
                <a:latin typeface="Aptos"/>
              </a:rPr>
              <a:t>и WhatsApp-сообщества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00" y="5010840"/>
            <a:ext cx="1919880" cy="237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1100" b="1" i="0">
                <a:solidFill>
                  <a:srgbClr val="CE4C7C"/>
                </a:solidFill>
                <a:latin typeface="Aptos"/>
              </a:rPr>
              <a:t>МЕСЯЦ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9560" y="5010840"/>
            <a:ext cx="2048040" cy="237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1100" b="1" i="0">
                <a:solidFill>
                  <a:srgbClr val="CE4C7C"/>
                </a:solidFill>
                <a:latin typeface="Aptos"/>
              </a:rPr>
              <a:t>МЕСЯЦЫ 2–3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66320" y="5010840"/>
            <a:ext cx="2048040" cy="237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1100" b="1" i="0">
                <a:solidFill>
                  <a:srgbClr val="CE4C7C"/>
                </a:solidFill>
                <a:latin typeface="Aptos"/>
              </a:rPr>
              <a:t>МЕСЯЦЫ 4–6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6800" y="5312520"/>
            <a:ext cx="10807920" cy="219240"/>
          </a:xfrm>
          <a:prstGeom prst="roundRect">
            <a:avLst/>
          </a:prstGeom>
          <a:solidFill>
            <a:srgbClr val="FC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76800" y="5312520"/>
            <a:ext cx="3556800" cy="219240"/>
          </a:xfrm>
          <a:prstGeom prst="roundRect">
            <a:avLst/>
          </a:prstGeom>
          <a:solidFill>
            <a:srgbClr val="F8D9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4233600" y="5312520"/>
            <a:ext cx="3574800" cy="219240"/>
          </a:xfrm>
          <a:prstGeom prst="roundRect">
            <a:avLst/>
          </a:prstGeom>
          <a:solidFill>
            <a:srgbClr val="F2B5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7809120" y="5312520"/>
            <a:ext cx="3675600" cy="219240"/>
          </a:xfrm>
          <a:prstGeom prst="roundRect">
            <a:avLst/>
          </a:prstGeom>
          <a:solidFill>
            <a:srgbClr val="E86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95600" y="5614560"/>
            <a:ext cx="3245760" cy="282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1240" b="1" i="0">
                <a:solidFill>
                  <a:srgbClr val="30252B"/>
                </a:solidFill>
                <a:latin typeface="Aptos"/>
              </a:rPr>
              <a:t>Интервью + лендинг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0120" y="5614560"/>
            <a:ext cx="3218400" cy="282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1240" b="1" i="0">
                <a:solidFill>
                  <a:srgbClr val="30252B"/>
                </a:solidFill>
                <a:latin typeface="Aptos"/>
              </a:rPr>
              <a:t>10–15 платных заказов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19360" y="5614560"/>
            <a:ext cx="3291480" cy="282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1240" b="1" i="0">
                <a:solidFill>
                  <a:srgbClr val="30252B"/>
                </a:solidFill>
                <a:latin typeface="Aptos"/>
              </a:rPr>
              <a:t>Повторы + масштабирование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0"/>
            <a:ext cx="1036320" cy="111528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90560"/>
            <a:ext cx="822600" cy="667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1720" y="265320"/>
            <a:ext cx="4571640" cy="319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1300" b="1" i="0">
                <a:solidFill>
                  <a:srgbClr val="CE4C7C"/>
                </a:solidFill>
                <a:latin typeface="Aptos"/>
              </a:rPr>
              <a:t>КОЛЛЕКТЫ ОТ СОФЫ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60920" y="283320"/>
            <a:ext cx="4214880" cy="237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1000" b="1" i="0" dirty="0">
                <a:solidFill>
                  <a:srgbClr val="756B70"/>
                </a:solidFill>
                <a:latin typeface="Aptos"/>
              </a:rPr>
              <a:t>ВЭД</a:t>
            </a:r>
          </a:p>
        </p:txBody>
      </p:sp>
      <p:sp>
        <p:nvSpPr>
          <p:cNvPr id="6" name="Rectangle 5"/>
          <p:cNvSpPr/>
          <p:nvPr/>
        </p:nvSpPr>
        <p:spPr>
          <a:xfrm>
            <a:off x="631080" y="6469560"/>
            <a:ext cx="10963440" cy="10440"/>
          </a:xfrm>
          <a:prstGeom prst="rect">
            <a:avLst/>
          </a:prstGeom>
          <a:solidFill>
            <a:srgbClr val="EE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82600" y="6510600"/>
            <a:ext cx="456840" cy="182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00" b="1" i="0">
                <a:solidFill>
                  <a:srgbClr val="CE4C7C"/>
                </a:solidFill>
                <a:latin typeface="Aptos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786240"/>
            <a:ext cx="10881000" cy="2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1140" b="1" i="0">
                <a:solidFill>
                  <a:srgbClr val="CE4C7C"/>
                </a:solidFill>
                <a:latin typeface="Aptos"/>
              </a:rPr>
              <a:t>ИМПОРТ НАПРЯМУЮ ИЗ КИТАЯ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1080" y="1129320"/>
            <a:ext cx="10990800" cy="639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3200" b="1" i="0">
                <a:solidFill>
                  <a:srgbClr val="30252B"/>
                </a:solidFill>
                <a:latin typeface="Aptos"/>
              </a:rPr>
              <a:t>Какие платежи входят в себестоимость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440" y="1834200"/>
            <a:ext cx="10908360" cy="392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1500" b="0" i="0">
                <a:solidFill>
                  <a:srgbClr val="756B70"/>
                </a:solidFill>
                <a:latin typeface="Aptos"/>
              </a:rPr>
              <a:t>Пример ставок 2026 года · прямой импорт Китай → Казахстан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440" y="2395800"/>
            <a:ext cx="5330520" cy="1078560"/>
          </a:xfrm>
          <a:prstGeom prst="roundRect">
            <a:avLst/>
          </a:prstGeom>
          <a:solidFill>
            <a:srgbClr val="FC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9680" y="2560320"/>
            <a:ext cx="1846800" cy="59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2900" b="1" i="0">
                <a:solidFill>
                  <a:srgbClr val="CE4C7C"/>
                </a:solidFill>
                <a:latin typeface="Aptos"/>
              </a:rPr>
              <a:t>16%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15840" y="2560320"/>
            <a:ext cx="2989800" cy="603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1490" b="1" i="0">
                <a:solidFill>
                  <a:srgbClr val="30252B"/>
                </a:solidFill>
                <a:latin typeface="Aptos"/>
              </a:rPr>
              <a:t>НДС на импорт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0560" y="2395800"/>
            <a:ext cx="5330520" cy="1078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E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91800" y="2560320"/>
            <a:ext cx="1846800" cy="59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2900" b="1" i="0">
                <a:solidFill>
                  <a:srgbClr val="CE4C7C"/>
                </a:solidFill>
                <a:latin typeface="Aptos"/>
              </a:rPr>
              <a:t>6,5%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960" y="2560320"/>
            <a:ext cx="2989800" cy="603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1490" b="1" i="0">
                <a:solidFill>
                  <a:srgbClr val="30252B"/>
                </a:solidFill>
                <a:latin typeface="Aptos"/>
              </a:rPr>
              <a:t>пластик: код 3926 90 970 9*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440" y="3648600"/>
            <a:ext cx="5330520" cy="1078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E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9680" y="3813120"/>
            <a:ext cx="1846800" cy="59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2900" b="1" i="0">
                <a:solidFill>
                  <a:srgbClr val="CE4C7C"/>
                </a:solidFill>
                <a:latin typeface="Aptos"/>
              </a:rPr>
              <a:t>10%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15840" y="3813120"/>
            <a:ext cx="2989800" cy="603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1490" b="1" i="0">
                <a:solidFill>
                  <a:srgbClr val="30252B"/>
                </a:solidFill>
                <a:latin typeface="Aptos"/>
              </a:rPr>
              <a:t>открытки: код 4909 00 000 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560" y="3648600"/>
            <a:ext cx="5330520" cy="1078560"/>
          </a:xfrm>
          <a:prstGeom prst="roundRect">
            <a:avLst/>
          </a:prstGeom>
          <a:solidFill>
            <a:srgbClr val="FC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91800" y="3813120"/>
            <a:ext cx="1846800" cy="59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2900" b="1" i="0">
                <a:solidFill>
                  <a:srgbClr val="CE4C7C"/>
                </a:solidFill>
                <a:latin typeface="Aptos"/>
              </a:rPr>
              <a:t>25 950 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960" y="3813120"/>
            <a:ext cx="2989800" cy="603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1490" b="1" i="0">
                <a:solidFill>
                  <a:srgbClr val="30252B"/>
                </a:solidFill>
                <a:latin typeface="Aptos"/>
              </a:rPr>
              <a:t>сбор за стандартную ДТ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6800" y="5120640"/>
            <a:ext cx="10789560" cy="612360"/>
          </a:xfrm>
          <a:prstGeom prst="roundRect">
            <a:avLst/>
          </a:prstGeom>
          <a:solidFill>
            <a:srgbClr val="F8D9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5" name="TextBox 24"/>
          <p:cNvSpPr txBox="1"/>
          <p:nvPr/>
        </p:nvSpPr>
        <p:spPr>
          <a:xfrm>
            <a:off x="941760" y="5257800"/>
            <a:ext cx="6903360" cy="338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2200" b="1" i="0">
                <a:solidFill>
                  <a:srgbClr val="30252B"/>
                </a:solidFill>
                <a:latin typeface="Aptos"/>
              </a:rPr>
              <a:t>1 000 000 ₸ → 1 265 502 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07880" y="5294520"/>
            <a:ext cx="3611520" cy="246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1120" b="1" i="0" dirty="0" err="1">
                <a:solidFill>
                  <a:srgbClr val="756B70"/>
                </a:solidFill>
                <a:latin typeface="Aptos"/>
              </a:rPr>
              <a:t>условный</a:t>
            </a:r>
            <a:r>
              <a:rPr sz="1120" b="1" i="0" dirty="0">
                <a:solidFill>
                  <a:srgbClr val="756B70"/>
                </a:solidFill>
                <a:latin typeface="Aptos"/>
              </a:rPr>
              <a:t> </a:t>
            </a:r>
            <a:r>
              <a:rPr sz="1120" b="1" i="0" dirty="0" err="1">
                <a:solidFill>
                  <a:srgbClr val="756B70"/>
                </a:solidFill>
                <a:latin typeface="Aptos"/>
              </a:rPr>
              <a:t>пример</a:t>
            </a:r>
            <a:r>
              <a:rPr sz="1120" b="1" i="0" dirty="0">
                <a:solidFill>
                  <a:srgbClr val="756B70"/>
                </a:solidFill>
                <a:latin typeface="Aptos"/>
              </a:rPr>
              <a:t> </a:t>
            </a:r>
            <a:r>
              <a:rPr sz="1120" b="1" i="0" dirty="0" err="1">
                <a:solidFill>
                  <a:srgbClr val="756B70"/>
                </a:solidFill>
                <a:latin typeface="Aptos"/>
              </a:rPr>
              <a:t>с</a:t>
            </a:r>
            <a:r>
              <a:rPr sz="1120" b="1" i="0" dirty="0">
                <a:solidFill>
                  <a:srgbClr val="756B70"/>
                </a:solidFill>
                <a:latin typeface="Aptos"/>
              </a:rPr>
              <a:t> </a:t>
            </a:r>
            <a:r>
              <a:rPr sz="1120" b="1" i="0" dirty="0" err="1">
                <a:solidFill>
                  <a:srgbClr val="756B70"/>
                </a:solidFill>
                <a:latin typeface="Aptos"/>
              </a:rPr>
              <a:t>пошлиной</a:t>
            </a:r>
            <a:r>
              <a:rPr sz="1120" b="1" i="0" dirty="0">
                <a:solidFill>
                  <a:srgbClr val="756B70"/>
                </a:solidFill>
                <a:latin typeface="Aptos"/>
              </a:rPr>
              <a:t> 6,5%*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099120"/>
            <a:ext cx="10844280" cy="237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939" b="0" i="0" dirty="0">
                <a:solidFill>
                  <a:srgbClr val="756B70"/>
                </a:solidFill>
                <a:latin typeface="Aptos"/>
              </a:rPr>
              <a:t>* </a:t>
            </a:r>
            <a:r>
              <a:rPr sz="939" b="0" i="0" dirty="0" err="1">
                <a:solidFill>
                  <a:srgbClr val="756B70"/>
                </a:solidFill>
                <a:latin typeface="Aptos"/>
              </a:rPr>
              <a:t>Без</a:t>
            </a:r>
            <a:r>
              <a:rPr sz="939" b="0" i="0" dirty="0">
                <a:solidFill>
                  <a:srgbClr val="756B70"/>
                </a:solidFill>
                <a:latin typeface="Aptos"/>
              </a:rPr>
              <a:t> </a:t>
            </a:r>
            <a:r>
              <a:rPr sz="939" b="0" i="0" dirty="0" err="1">
                <a:solidFill>
                  <a:srgbClr val="756B70"/>
                </a:solidFill>
                <a:latin typeface="Aptos"/>
              </a:rPr>
              <a:t>доставки</a:t>
            </a:r>
            <a:r>
              <a:rPr sz="939" b="0" i="0" dirty="0">
                <a:solidFill>
                  <a:srgbClr val="756B70"/>
                </a:solidFill>
                <a:latin typeface="Aptos"/>
              </a:rPr>
              <a:t> </a:t>
            </a:r>
            <a:r>
              <a:rPr sz="939" b="0" i="0" dirty="0" err="1">
                <a:solidFill>
                  <a:srgbClr val="756B70"/>
                </a:solidFill>
                <a:latin typeface="Aptos"/>
              </a:rPr>
              <a:t>и</a:t>
            </a:r>
            <a:r>
              <a:rPr sz="939" b="0" i="0" dirty="0">
                <a:solidFill>
                  <a:srgbClr val="756B70"/>
                </a:solidFill>
                <a:latin typeface="Aptos"/>
              </a:rPr>
              <a:t> </a:t>
            </a:r>
            <a:r>
              <a:rPr lang="ru-RU" sz="939" dirty="0">
                <a:solidFill>
                  <a:srgbClr val="756B70"/>
                </a:solidFill>
                <a:latin typeface="Aptos"/>
              </a:rPr>
              <a:t>доп услуг</a:t>
            </a:r>
            <a:endParaRPr sz="939" b="0" i="0" dirty="0">
              <a:solidFill>
                <a:srgbClr val="756B7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0"/>
            <a:ext cx="1036320" cy="111528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90560"/>
            <a:ext cx="822600" cy="667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1720" y="265320"/>
            <a:ext cx="4571640" cy="319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1300" b="1" i="0">
                <a:solidFill>
                  <a:srgbClr val="CE4C7C"/>
                </a:solidFill>
                <a:latin typeface="Aptos"/>
              </a:rPr>
              <a:t>КОЛЛЕКТЫ ОТ СОФЫ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60920" y="283320"/>
            <a:ext cx="4214880" cy="237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1000" b="1" i="0" dirty="0">
                <a:solidFill>
                  <a:srgbClr val="756B70"/>
                </a:solidFill>
                <a:latin typeface="Aptos"/>
              </a:rPr>
              <a:t>РИСКИ </a:t>
            </a:r>
            <a:r>
              <a:rPr sz="1000" b="1" i="0" dirty="0" err="1">
                <a:solidFill>
                  <a:srgbClr val="756B70"/>
                </a:solidFill>
                <a:latin typeface="Aptos"/>
              </a:rPr>
              <a:t>И</a:t>
            </a:r>
            <a:r>
              <a:rPr sz="1000" b="1" i="0" dirty="0">
                <a:solidFill>
                  <a:srgbClr val="756B70"/>
                </a:solidFill>
                <a:latin typeface="Aptos"/>
              </a:rPr>
              <a:t> ПЕРЕВОЗЧИКИ</a:t>
            </a:r>
          </a:p>
        </p:txBody>
      </p:sp>
      <p:sp>
        <p:nvSpPr>
          <p:cNvPr id="6" name="Rectangle 5"/>
          <p:cNvSpPr/>
          <p:nvPr/>
        </p:nvSpPr>
        <p:spPr>
          <a:xfrm>
            <a:off x="631080" y="6469560"/>
            <a:ext cx="10963440" cy="10440"/>
          </a:xfrm>
          <a:prstGeom prst="rect">
            <a:avLst/>
          </a:prstGeom>
          <a:solidFill>
            <a:srgbClr val="EE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82600" y="6510600"/>
            <a:ext cx="456840" cy="182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00" b="1" i="0">
                <a:solidFill>
                  <a:srgbClr val="CE4C7C"/>
                </a:solidFill>
                <a:latin typeface="Aptos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786240"/>
            <a:ext cx="10881000" cy="2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1140" b="1" i="0">
                <a:solidFill>
                  <a:srgbClr val="CE4C7C"/>
                </a:solidFill>
                <a:latin typeface="Aptos"/>
              </a:rPr>
              <a:t>КАК СНИЗИТЬ РИСКИ ИМПОРТА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1080" y="1129320"/>
            <a:ext cx="10990800" cy="639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3200" b="1" i="0">
                <a:solidFill>
                  <a:srgbClr val="30252B"/>
                </a:solidFill>
                <a:latin typeface="Aptos"/>
              </a:rPr>
              <a:t>Три обязательных контура контроля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440" y="1834200"/>
            <a:ext cx="10908360" cy="392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1500" b="0" i="0">
                <a:solidFill>
                  <a:srgbClr val="756B70"/>
                </a:solidFill>
                <a:latin typeface="Aptos"/>
              </a:rPr>
              <a:t>Не начинаем производство без товарной классификации и документов.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080" y="2532960"/>
            <a:ext cx="3593160" cy="3081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E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9680" y="2724840"/>
            <a:ext cx="703800" cy="475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2500" b="1" i="0">
                <a:solidFill>
                  <a:srgbClr val="CE4C7C"/>
                </a:solidFill>
                <a:latin typeface="Apto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680" y="3319200"/>
            <a:ext cx="3209040" cy="529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2000" b="1" i="0">
                <a:solidFill>
                  <a:srgbClr val="30252B"/>
                </a:solidFill>
                <a:latin typeface="Aptos"/>
              </a:rPr>
              <a:t>Товары и маркировка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680" y="3996000"/>
            <a:ext cx="3163320" cy="1435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sz="1380" b="0" i="0">
                <a:solidFill>
                  <a:srgbClr val="756B70"/>
                </a:solidFill>
                <a:latin typeface="Aptos"/>
              </a:rPr>
              <a:t>ТР ТС 017/2011: сертификат /</a:t>
            </a:r>
          </a:p>
          <a:p>
            <a:r>
              <a:rPr sz="1380" b="0" i="0">
                <a:solidFill>
                  <a:srgbClr val="756B70"/>
                </a:solidFill>
                <a:latin typeface="Aptos"/>
              </a:rPr>
              <a:t>декларация, EAC; этикетки KZ/RU.</a:t>
            </a:r>
          </a:p>
          <a:p>
            <a:r>
              <a:rPr sz="1380" b="0" i="0">
                <a:solidFill>
                  <a:srgbClr val="756B70"/>
                </a:solidFill>
                <a:latin typeface="Aptos"/>
              </a:rPr>
              <a:t>НКТ/NTIN — 2026; Data Matrix</a:t>
            </a:r>
          </a:p>
          <a:p>
            <a:r>
              <a:rPr sz="1380" b="0" i="0">
                <a:solidFill>
                  <a:srgbClr val="756B70"/>
                </a:solidFill>
                <a:latin typeface="Aptos"/>
              </a:rPr>
              <a:t>для ряда видов одежды с 01.12.2026.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57080" y="2532960"/>
            <a:ext cx="3593160" cy="3081240"/>
          </a:xfrm>
          <a:prstGeom prst="roundRect">
            <a:avLst/>
          </a:prstGeom>
          <a:solidFill>
            <a:srgbClr val="FC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67320" y="2724840"/>
            <a:ext cx="703800" cy="475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2500" b="1" i="0">
                <a:solidFill>
                  <a:srgbClr val="CE4C7C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7320" y="3319200"/>
            <a:ext cx="3209040" cy="529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2000" b="1" i="0">
                <a:solidFill>
                  <a:srgbClr val="30252B"/>
                </a:solidFill>
                <a:latin typeface="Aptos"/>
              </a:rPr>
              <a:t>Дизайны и данные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5680" y="3996000"/>
            <a:ext cx="3163320" cy="1435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sz="1380" b="0" i="0">
                <a:solidFill>
                  <a:srgbClr val="756B70"/>
                </a:solidFill>
                <a:latin typeface="Aptos"/>
              </a:rPr>
              <a:t>Лицензия автора на тираж и импорт;</a:t>
            </a:r>
          </a:p>
          <a:p>
            <a:r>
              <a:rPr sz="1380" b="0" i="0">
                <a:solidFill>
                  <a:srgbClr val="756B70"/>
                </a:solidFill>
                <a:latin typeface="Aptos"/>
              </a:rPr>
              <a:t>проверка фан-арта и чужих брендов.</a:t>
            </a:r>
          </a:p>
          <a:p>
            <a:r>
              <a:rPr sz="1380" b="0" i="0">
                <a:solidFill>
                  <a:srgbClr val="756B70"/>
                </a:solidFill>
                <a:latin typeface="Aptos"/>
              </a:rPr>
              <a:t>Согласие на обработку и хранение</a:t>
            </a:r>
          </a:p>
          <a:p>
            <a:r>
              <a:rPr sz="1380" b="0" i="0">
                <a:solidFill>
                  <a:srgbClr val="756B70"/>
                </a:solidFill>
                <a:latin typeface="Aptos"/>
              </a:rPr>
              <a:t>персональных данных в РК.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65080" y="2532960"/>
            <a:ext cx="3593160" cy="3081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E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75320" y="2724840"/>
            <a:ext cx="703800" cy="475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2500" b="1" i="0">
                <a:solidFill>
                  <a:srgbClr val="CE4C7C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3319200"/>
            <a:ext cx="3209040" cy="529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2000" b="1" i="0">
                <a:solidFill>
                  <a:srgbClr val="30252B"/>
                </a:solidFill>
                <a:latin typeface="Aptos"/>
              </a:rPr>
              <a:t>Поставка из Китая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3680" y="3996000"/>
            <a:ext cx="3163320" cy="1435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sz="1380" b="0" i="0">
                <a:solidFill>
                  <a:srgbClr val="756B70"/>
                </a:solidFill>
                <a:latin typeface="Aptos"/>
              </a:rPr>
              <a:t>СДЭК B2B — коммерческие грузы.</a:t>
            </a:r>
          </a:p>
          <a:p>
            <a:r>
              <a:rPr sz="1380" b="0" i="0">
                <a:solidFill>
                  <a:srgbClr val="756B70"/>
                </a:solidFill>
                <a:latin typeface="Aptos"/>
              </a:rPr>
              <a:t>KTZ Express — контейнерные партии.</a:t>
            </a:r>
          </a:p>
          <a:p>
            <a:r>
              <a:rPr sz="1380" b="0" i="0">
                <a:solidFill>
                  <a:srgbClr val="756B70"/>
                </a:solidFill>
                <a:latin typeface="Aptos"/>
              </a:rPr>
              <a:t>Первый пилот — через импортёра</a:t>
            </a:r>
          </a:p>
          <a:p>
            <a:r>
              <a:rPr sz="1380" b="0" i="0">
                <a:solidFill>
                  <a:srgbClr val="756B70"/>
                </a:solidFill>
                <a:latin typeface="Aptos"/>
              </a:rPr>
              <a:t>и таможенного брокера в РК.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0"/>
            <a:ext cx="1036320" cy="111528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90560"/>
            <a:ext cx="822600" cy="667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1720" y="265320"/>
            <a:ext cx="4571640" cy="319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1300" b="1" i="0">
                <a:solidFill>
                  <a:srgbClr val="CE4C7C"/>
                </a:solidFill>
                <a:latin typeface="Aptos"/>
              </a:rPr>
              <a:t>КОЛЛЕКТЫ ОТ СОФЫ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60920" y="283320"/>
            <a:ext cx="4214880" cy="237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1000" b="1" i="0" dirty="0">
                <a:solidFill>
                  <a:srgbClr val="756B70"/>
                </a:solidFill>
                <a:latin typeface="Aptos"/>
              </a:rPr>
              <a:t>ВЫВОД</a:t>
            </a:r>
          </a:p>
        </p:txBody>
      </p:sp>
      <p:sp>
        <p:nvSpPr>
          <p:cNvPr id="6" name="Rectangle 5"/>
          <p:cNvSpPr/>
          <p:nvPr/>
        </p:nvSpPr>
        <p:spPr>
          <a:xfrm>
            <a:off x="631080" y="6469560"/>
            <a:ext cx="10963440" cy="10440"/>
          </a:xfrm>
          <a:prstGeom prst="rect">
            <a:avLst/>
          </a:prstGeom>
          <a:solidFill>
            <a:srgbClr val="EE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82600" y="6510600"/>
            <a:ext cx="456840" cy="182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00" b="1" i="0">
                <a:solidFill>
                  <a:srgbClr val="CE4C7C"/>
                </a:solidFill>
                <a:latin typeface="Aptos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786240"/>
            <a:ext cx="10881000" cy="2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lang="ru-RU" sz="1140" b="1" i="0" dirty="0">
                <a:solidFill>
                  <a:srgbClr val="CE4C7C"/>
                </a:solidFill>
                <a:latin typeface="Aptos"/>
              </a:rPr>
              <a:t>ПОДВОДИМ ИТОГИ</a:t>
            </a:r>
            <a:endParaRPr sz="1140" b="1" i="0" dirty="0">
              <a:solidFill>
                <a:srgbClr val="CE4C7C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31080" y="1129320"/>
            <a:ext cx="10990800" cy="639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3200" b="1" i="0" dirty="0" err="1">
                <a:solidFill>
                  <a:srgbClr val="30252B"/>
                </a:solidFill>
                <a:latin typeface="Aptos"/>
              </a:rPr>
              <a:t>Казахстан</a:t>
            </a:r>
            <a:r>
              <a:rPr sz="3200" b="1" i="0" dirty="0">
                <a:solidFill>
                  <a:srgbClr val="30252B"/>
                </a:solidFill>
                <a:latin typeface="Aptos"/>
              </a:rPr>
              <a:t> — </a:t>
            </a:r>
            <a:r>
              <a:rPr sz="3200" b="1" i="0" dirty="0" err="1">
                <a:solidFill>
                  <a:srgbClr val="30252B"/>
                </a:solidFill>
                <a:latin typeface="Aptos"/>
              </a:rPr>
              <a:t>рынок</a:t>
            </a:r>
            <a:r>
              <a:rPr sz="3200" b="1" i="0" dirty="0">
                <a:solidFill>
                  <a:srgbClr val="30252B"/>
                </a:solidFill>
                <a:latin typeface="Aptos"/>
              </a:rPr>
              <a:t> </a:t>
            </a:r>
            <a:r>
              <a:rPr sz="3200" b="1" i="0" dirty="0" err="1">
                <a:solidFill>
                  <a:srgbClr val="30252B"/>
                </a:solidFill>
                <a:latin typeface="Aptos"/>
              </a:rPr>
              <a:t>для</a:t>
            </a:r>
            <a:r>
              <a:rPr sz="3200" b="1" i="0" dirty="0">
                <a:solidFill>
                  <a:srgbClr val="30252B"/>
                </a:solidFill>
                <a:latin typeface="Aptos"/>
              </a:rPr>
              <a:t> </a:t>
            </a:r>
            <a:r>
              <a:rPr sz="3200" b="1" i="0" dirty="0" err="1">
                <a:solidFill>
                  <a:srgbClr val="30252B"/>
                </a:solidFill>
                <a:latin typeface="Aptos"/>
              </a:rPr>
              <a:t>точечного</a:t>
            </a:r>
            <a:r>
              <a:rPr sz="3200" b="1" i="0" dirty="0">
                <a:solidFill>
                  <a:srgbClr val="30252B"/>
                </a:solidFill>
                <a:latin typeface="Aptos"/>
              </a:rPr>
              <a:t> </a:t>
            </a:r>
            <a:r>
              <a:rPr sz="3200" b="1" i="0" dirty="0" err="1">
                <a:solidFill>
                  <a:srgbClr val="30252B"/>
                </a:solidFill>
                <a:latin typeface="Aptos"/>
              </a:rPr>
              <a:t>запуска</a:t>
            </a:r>
            <a:endParaRPr sz="3200" b="1" i="0" dirty="0">
              <a:solidFill>
                <a:srgbClr val="30252B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8440" y="1834200"/>
            <a:ext cx="10908360" cy="392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1500" b="0" i="0">
                <a:solidFill>
                  <a:srgbClr val="756B70"/>
                </a:solidFill>
                <a:latin typeface="Aptos"/>
              </a:rPr>
              <a:t>Есть основания входить, но не строить инфраструктуру до первых продаж.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440" y="2477880"/>
            <a:ext cx="3574800" cy="1435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E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688480"/>
            <a:ext cx="447840" cy="301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1500" b="1" i="0">
                <a:solidFill>
                  <a:srgbClr val="CE4C7C"/>
                </a:solidFill>
                <a:latin typeface="Apto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0600" y="2651760"/>
            <a:ext cx="2559960" cy="392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1900" b="1" i="0">
                <a:solidFill>
                  <a:srgbClr val="30252B"/>
                </a:solidFill>
                <a:latin typeface="Aptos"/>
              </a:rPr>
              <a:t>Рынок растёт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680" y="3255120"/>
            <a:ext cx="3145320" cy="438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1390" b="0" i="0">
                <a:solidFill>
                  <a:srgbClr val="756B70"/>
                </a:solidFill>
                <a:latin typeface="Aptos"/>
              </a:rPr>
              <a:t>+54% онлайн-продаж за 2 года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0760" y="2477880"/>
            <a:ext cx="3574800" cy="1435320"/>
          </a:xfrm>
          <a:prstGeom prst="roundRect">
            <a:avLst/>
          </a:prstGeom>
          <a:solidFill>
            <a:srgbClr val="FC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81000" y="2688480"/>
            <a:ext cx="447840" cy="301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1500" b="1" i="0">
                <a:solidFill>
                  <a:srgbClr val="CE4C7C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93280" y="2651760"/>
            <a:ext cx="2559960" cy="392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1900" b="1" i="0">
                <a:solidFill>
                  <a:srgbClr val="30252B"/>
                </a:solidFill>
                <a:latin typeface="Aptos"/>
              </a:rPr>
              <a:t>Категория существует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360" y="3255120"/>
            <a:ext cx="3145320" cy="438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1390" b="0" i="0">
                <a:solidFill>
                  <a:srgbClr val="756B70"/>
                </a:solidFill>
                <a:latin typeface="Aptos"/>
              </a:rPr>
              <a:t>Уже работают 3+ локальных игрока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3440" y="2477880"/>
            <a:ext cx="3574800" cy="1435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E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93680" y="2688480"/>
            <a:ext cx="447840" cy="301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1500" b="1" i="0">
                <a:solidFill>
                  <a:srgbClr val="CE4C7C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5600" y="2651760"/>
            <a:ext cx="2559960" cy="392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1900" b="1" i="0">
                <a:solidFill>
                  <a:srgbClr val="30252B"/>
                </a:solidFill>
                <a:latin typeface="Aptos"/>
              </a:rPr>
              <a:t>Вход управляемый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680" y="3255120"/>
            <a:ext cx="3145320" cy="438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1390" b="0" i="0">
                <a:solidFill>
                  <a:srgbClr val="756B70"/>
                </a:solidFill>
                <a:latin typeface="Aptos"/>
              </a:rPr>
              <a:t>Сначала акрил и полиграфия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7440" y="4160520"/>
            <a:ext cx="10807920" cy="1298160"/>
          </a:xfrm>
          <a:prstGeom prst="roundRect">
            <a:avLst/>
          </a:prstGeom>
          <a:solidFill>
            <a:srgbClr val="FC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5" name="TextBox 24"/>
          <p:cNvSpPr txBox="1"/>
          <p:nvPr/>
        </p:nvSpPr>
        <p:spPr>
          <a:xfrm>
            <a:off x="951120" y="4407480"/>
            <a:ext cx="2834280" cy="2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1200" b="1" i="0">
                <a:solidFill>
                  <a:srgbClr val="CE4C7C"/>
                </a:solidFill>
                <a:latin typeface="Aptos"/>
              </a:rPr>
              <a:t>НАШЕ РЕШЕНИЕ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1120" y="4773240"/>
            <a:ext cx="10122120" cy="438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2200" b="1" i="0">
                <a:solidFill>
                  <a:srgbClr val="30252B"/>
                </a:solidFill>
                <a:latin typeface="Aptos"/>
              </a:rPr>
              <a:t>Алматы → Астана  ·  6 месяцев  ·  без собственного офиса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520" y="5669280"/>
            <a:ext cx="2815920" cy="310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1300" b="1" i="0">
                <a:solidFill>
                  <a:srgbClr val="CE4C7C"/>
                </a:solidFill>
                <a:latin typeface="Aptos"/>
              </a:rPr>
              <a:t>Условие масштабирования: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30240" y="5660280"/>
            <a:ext cx="7909200" cy="328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sz="1370" b="1" i="0" dirty="0">
                <a:solidFill>
                  <a:srgbClr val="30252B"/>
                </a:solidFill>
                <a:latin typeface="Aptos"/>
              </a:rPr>
              <a:t>10–15 </a:t>
            </a:r>
            <a:r>
              <a:rPr sz="1370" b="1" i="0" dirty="0" err="1">
                <a:solidFill>
                  <a:srgbClr val="30252B"/>
                </a:solidFill>
                <a:latin typeface="Aptos"/>
              </a:rPr>
              <a:t>оплат</a:t>
            </a:r>
            <a:r>
              <a:rPr sz="1370" b="1" i="0" dirty="0">
                <a:solidFill>
                  <a:srgbClr val="30252B"/>
                </a:solidFill>
                <a:latin typeface="Aptos"/>
              </a:rPr>
              <a:t>  ·  ≥90% </a:t>
            </a:r>
            <a:r>
              <a:rPr sz="1370" b="1" i="0" dirty="0" err="1">
                <a:solidFill>
                  <a:srgbClr val="30252B"/>
                </a:solidFill>
                <a:latin typeface="Aptos"/>
              </a:rPr>
              <a:t>без</a:t>
            </a:r>
            <a:r>
              <a:rPr sz="1370" b="1" i="0" dirty="0">
                <a:solidFill>
                  <a:srgbClr val="30252B"/>
                </a:solidFill>
                <a:latin typeface="Aptos"/>
              </a:rPr>
              <a:t> </a:t>
            </a:r>
            <a:r>
              <a:rPr sz="1370" b="1" i="0" dirty="0" err="1">
                <a:solidFill>
                  <a:srgbClr val="30252B"/>
                </a:solidFill>
                <a:latin typeface="Aptos"/>
              </a:rPr>
              <a:t>критических</a:t>
            </a:r>
            <a:r>
              <a:rPr sz="1370" b="1" i="0" dirty="0">
                <a:solidFill>
                  <a:srgbClr val="30252B"/>
                </a:solidFill>
                <a:latin typeface="Aptos"/>
              </a:rPr>
              <a:t> </a:t>
            </a:r>
            <a:r>
              <a:rPr sz="1370" b="1" i="0" dirty="0" err="1">
                <a:solidFill>
                  <a:srgbClr val="30252B"/>
                </a:solidFill>
                <a:latin typeface="Aptos"/>
              </a:rPr>
              <a:t>дефектов</a:t>
            </a:r>
            <a:r>
              <a:rPr sz="1370" b="1" i="0" dirty="0">
                <a:solidFill>
                  <a:srgbClr val="30252B"/>
                </a:solidFill>
                <a:latin typeface="Aptos"/>
              </a:rPr>
              <a:t>  ·  </a:t>
            </a:r>
            <a:r>
              <a:rPr sz="1370" b="1" i="0" dirty="0" err="1">
                <a:solidFill>
                  <a:srgbClr val="30252B"/>
                </a:solidFill>
                <a:latin typeface="Aptos"/>
              </a:rPr>
              <a:t>положительная</a:t>
            </a:r>
            <a:r>
              <a:rPr sz="1370" b="1" i="0" dirty="0">
                <a:solidFill>
                  <a:srgbClr val="30252B"/>
                </a:solidFill>
                <a:latin typeface="Aptos"/>
              </a:rPr>
              <a:t> </a:t>
            </a:r>
            <a:r>
              <a:rPr sz="1370" b="1" i="0" dirty="0" err="1">
                <a:solidFill>
                  <a:srgbClr val="30252B"/>
                </a:solidFill>
                <a:latin typeface="Aptos"/>
              </a:rPr>
              <a:t>маржа</a:t>
            </a:r>
            <a:endParaRPr sz="1370" b="1" i="0" dirty="0">
              <a:solidFill>
                <a:srgbClr val="30252B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pto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ptos"/>
        <a:font script="Hebr" typeface="Aptos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ptos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1241</TotalTime>
  <Words>682</Words>
  <Application>Microsoft Macintosh PowerPoint</Application>
  <PresentationFormat>Widescreen</PresentationFormat>
  <Paragraphs>192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Из Китая — в Казахстан</dc:title>
  <dc:subject>Практическое занятие №13</dc:subject>
  <dc:creator>Коллекты от Софы</dc:creator>
  <cp:keywords/>
  <dc:description>generated using python-pptx</dc:description>
  <cp:lastModifiedBy>Microsoft Office User</cp:lastModifiedBy>
  <cp:revision>3</cp:revision>
  <dcterms:created xsi:type="dcterms:W3CDTF">2013-01-27T09:14:16Z</dcterms:created>
  <dcterms:modified xsi:type="dcterms:W3CDTF">2026-10-21T07:11:24Z</dcterms:modified>
  <cp:category/>
</cp:coreProperties>
</file>